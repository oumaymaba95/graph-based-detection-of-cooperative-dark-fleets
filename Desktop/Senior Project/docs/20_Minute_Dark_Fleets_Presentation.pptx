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E2E8F0"/>
                </a:solidFill>
              </a:defRPr>
            </a:pPr>
            <a:r>
              <a:t>Graph-Based Detection</a:t>
            </a:r>
          </a:p>
          <a:p>
            <a:r>
              <a:t>of Cooperative Dark Fleets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E2E8F0"/>
                </a:solidFill>
              </a:defRPr>
            </a:pPr>
            <a:r>
              <a:t>20-Minute Presentation</a:t>
            </a:r>
          </a:p>
          <a:p>
            <a:r>
              <a:t>[Your Name] •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1. Introduction &amp; Motivation (3 min)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2. Data Pipeline (3 min)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3. Methods (5 min)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4. Results &amp; Validation (5 min)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5. Case Studies (3 min)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6. Limitations &amp; Conclusion (1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1.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IUU fishing costs billions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Key pattern: vessel coordination at sea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Transshipment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Shared fishing grounds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Rendezvous with dark vessels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ZERO labeled pairs → Unsupervised approach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2. Data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2.38 billion AIS records (2012–2019)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SST coverage: 97.5%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Pipeline: Chunked merge → Year split → SST lookup → QC → Temporal graph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Edge = vessels &lt; 10 km same day (876 daily snapshots)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3. Methods – Graph &amp; TGCN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Nodes = MMSI (hundreds of thousands)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Temporal node features: interactions, partners, last seen, mean gap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TGCN = Graph Conv + GRU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Score = dot-product of embeddings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3. Methods –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Strict time split (past → future)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5-fold rolling-window CV (50%–90% train)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Metrics: ROC AUC + Average Precision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3 random seeds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4. Results –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Full-coverage (1500 buckets): ≈ 0.78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Capped graph: ≈ 0.95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5-fold CV: 0.927 ± 0.067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Temporal features + TGCN clearly outperform static baselines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4. Results –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Top-1000 candidates ranked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Multi-threshold check: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25 km ±1 day → 8 pairs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50 km ±3 days → 11 pairs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100 km ±7 days → 14 pairs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Filters "same region" from real close encounters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Understanding the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Proximity days (e.g. 102) = days we found the pair within 25 km in GPS data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Candidate score (e.g. 15.92) = model's confidence; higher = stronger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These appear on the next slides.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Case Study 1 – Strongest Candidate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412000690 ↔ 412325200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Score: 15.92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102 days within 25 km (±1 day)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410 days within 50 km (±3 days)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1,568 days within 100 km (±7 days)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Mean distance ~135–139 km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Multi-year repeated close encounters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→ Highest-confidence cooperative candidate</a:t>
            </a:r>
          </a:p>
        </p:txBody>
      </p:sp>
      <p:pic>
        <p:nvPicPr>
          <p:cNvPr id="4" name="Picture 3" descr="pair_412000690_412325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12130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Case Study 2 – Moderate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412061791 ↔ 412508302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Score: 15.81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8 days within 25 km (±1 day)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88 days within 50 km (±3 days)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378 days within 100 km (±7 days)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Intermittent close proximity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Possible transshipment or shared grounds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→ Solid secondary candidate</a:t>
            </a:r>
          </a:p>
        </p:txBody>
      </p:sp>
      <p:pic>
        <p:nvPicPr>
          <p:cNvPr id="4" name="Picture 3" descr="pair_412061791_412508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Case Study 3 – Occasional Coordination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412425192 ↔ 998508450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Score: 14.86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9 days within 25 km (±1 day)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20 days within 50 km (±3 days)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53 days within 100 km (±7 days)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Fewer total encounters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Possible occasional meetings or shared region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→ Useful for geographic diversity</a:t>
            </a:r>
          </a:p>
        </p:txBody>
      </p:sp>
      <p:pic>
        <p:nvPicPr>
          <p:cNvPr id="4" name="Picture 3" descr="pair_412425192_9985084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Case Study 4 – Regional Overlap (Contrast)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978925333 ↔ 415131223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Score: 14.80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2 days within 25 km (±1 day)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12 days within 50 km (±3 days)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864 days within 100 km (±7 days)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Very few close meetings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Likely same fishing grounds / corridor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→ Shows value of multi-threshold 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6.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Daily grid-cell resolution (fine events blurred)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No ground-truth labels (proximity = proxy)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Results depend on thresholds &amp; time period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E2E8F0"/>
                </a:solidFill>
              </a:defRPr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800">
                <a:solidFill>
                  <a:srgbClr val="E2E8F0"/>
                </a:solidFill>
              </a:defRPr>
            </a:pPr>
            <a:r>
              <a:t>Working, reproducible pipeline</a:t>
            </a: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Strongest candidate ready for investigation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Future: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Sub-daily resolution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Metadata (flag, gear, ownership)</a:t>
            </a:r>
          </a:p>
          <a:p>
            <a:pPr>
              <a:defRPr sz="2400">
                <a:solidFill>
                  <a:srgbClr val="E2E8F0"/>
                </a:solidFill>
              </a:defRPr>
            </a:pPr>
            <a:r>
              <a:t>• Supervised learning when labels available</a:t>
            </a:r>
          </a:p>
          <a:p>
            <a:pPr>
              <a:defRPr sz="2800">
                <a:solidFill>
                  <a:srgbClr val="E2E8F0"/>
                </a:solidFill>
              </a:defRPr>
            </a:pPr>
          </a:p>
          <a:p>
            <a:pPr>
              <a:defRPr sz="2800">
                <a:solidFill>
                  <a:srgbClr val="E2E8F0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