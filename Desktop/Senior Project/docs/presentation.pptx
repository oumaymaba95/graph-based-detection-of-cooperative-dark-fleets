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the agenda quickly — emphasize that the professor asked for a deep dive on the TGCN, which is section 4. Total talk is 20 minutes.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IUU = illegal, unreported, unregulated fishing. AIS = Automatic Identification System — vessels broadcast position, speed, heading. The key constraint is that nobody has labeled which vessel pairs are “cooperating” — so we can’t train a classifier. Instead we treat it as temporal link prediction: if two vessels keep appearing near each other across time, the model gives them a high score.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manages expectations up front. The committee should understand that high model scores mean “plausible future co-occurrence” — not guilt. The output is a list for analysts to review, plus reproducible checks.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left to right: (1) We start with 2.38 billion vessel-day AIS records across 2012–2019. (2) Each calendar day becomes a snapshot graph — vessels are nodes, edges connect vessels within 10 km on the same day, plus optional social edges from shared national registry prefix. (3) The TGCN processes this sequence of daily graphs, producing 32-dimensional embeddings per vessel. (4) We score all vessel pairs by inner product of their embeddings — top 200 are candidates. (5) A strict 25 km geographic filter on raw tracks winnows to 8 validated pairs, and gear-aware stratification explains why the other 192 were excluded.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most important thing for the committee to understand: training edges and validation distances are NEVER mixed. The model learns from 10 km same-day proximity. The 25 km check is applied AFTER training to validate candidates on raw AIS tracks — it’s a completely independent filter. Stress this — it’s what makes the validation credible.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Temporal Graph Convolutional Network. The standard GRU processes sequences of vectors. The TGCN processes sequences of GRAPHS. Inside each GRU gate, instead of a matrix multiply, there’s a graph convolution — so the model aggregates information from a vessel’s neighbors before deciding how to update its hidden state. We use the TGCN class from PyTorch Geometric Temporal by Rozemberczki et al.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Kipf &amp; Welling 2017 GCNConv. The normalization factor 1/sqrt(d_u * d_v) ensures high-degree nodes don’t dominate — a vessel in a crowded fishing ground doesn’t overwhelm the embedding just because it has many neighbors. The weight matrix W is learned during training. After one GCN layer, vessel u’s embedding reflects not just its own features but who it’s near. With multiple layers (or the recurrence), information propagates further through the graph.</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the diagram top to bottom. INPUTS: X_t is the node feature matrix for today (dimension 5 per vessel — degree plus 4 temporal features). H_{t-1} is the hidden state carried from yesterday (32 dimensions per vessel). THREE GATES, each using GCNConv: (1) Update gate Z — sigmoid output between 0 and 1 — decides how much of yesterday’s hidden state to keep. (2) Reset gate R — also sigmoid — decides how much of yesterday to forget before computing the new candidate. (3) Candidate state H-tilde — uses tanh — what today’s graph says the hidden state should be, with yesterday partially reset. BLEND: The final hidden state H_t is a weighted mix: Z times yesterday plus (1-Z) times the candidate. If Z is close to 1, the model keeps yesterday’s state (vessel behavior hasn’t changed). If Z is close to 0, the model overwrites with today’s graph information. The “Next day” arrow shows this H_t becomes H_{t-1} for tomorrow — that’s the recurrence.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same diagram in equation form — reference the diagram as you walk through it. Each gate takes today’s features through a GCNConv (so it’s graph-aware), concatenates with yesterday’s hidden state, then applies a linear layer and activation. Sigmoid for the gates (output between 0 and 1 — “how much”). Tanh for the candidate (output between -1 and 1 — “what direction”). The element-wise multiply (circle-dot) means each dimension of the 32-dim embedding is gated independently. The key intuition: if a vessel’s neighborhood hasn’t changed much, Z stays high and the hidden state carries forward. If the neighborhood changes dramatically (new co-occurrences), Z drops and the model incorporates today’s graph.</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features tell the model about each vessel’s behavioral profile. Degree captures today’s activity level — it changes every day. The four static features are computed once from training history and capture long-term patterns: a vessel with high interaction count and many unique partners behaves very differently from one with few, sporadic contacts. Last-seen and mean-gap capture temporal regularity. All features are z-score standardized (mean 0, std 1) so no single feature dominates. The combined input is 5-dimensional per vessel per day.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the model makes predictions. After the TGCN processes a day’s graph, every vessel has a 32-dimensional embedding vector. To score a pair, we just take the dot product — it’s fast and interpretable. Two vessels with similar embeddings (similar neighborhoods, similar temporal patterns) get a high score. The score is a logit — it goes through BCEWithLogitsLoss during training, but at inference we just rank pairs by raw score. The top 200 pairs by score become our candidates.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training loop processes days in order — this is crucial because the hidden state carries temporal information forward. For each day, we have positive pairs (the actual edges in E_t, meaning vessels within 10 km) and we sample the same number of random non-edges as negatives. BCEWithLogitsLoss trains the model to rank positives above negatives. The key implementation detail is truncated backpropagation through time: after each day, we detach the hidden state from the computation graph. This means gradients only flow through one day at a time, not through the full 1,450-day sequence. We had to do this because the laptop has 16 GB RAM — without detaching, the computation graph would grow until memory runs out. The trade-off is that the model can’t learn very long-range dependencies, but in practice the daily recurrence still captures meaningful temporal patterns.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chronological split is important — we’re not doing random train/test splitting, which would leak future information. The model trains on earlier days and is evaluated on later days, so the metrics measure genuine forecasting ability. 0.73 AUC is moderate — it means the model is meaningfully better than random (0.50) but far from perfect. This is expected for an unsupervised approach on a hard problem with no labels. The per-bucket standard deviation of 0.10 means some individual days score much higher or lower — the 0.73 is a macro-average. If the committee asks “is 0.73 good enough?” — the answer is that the model’s purpose is screening, not classification. Even moderate ranking ability can surface useful candidates when paired with post-hoc validation.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rows, three different experiments — don’t mix metrics across them. The combined graph (our primary result) adds social edges from shared national registry prefix. Counter-intuitively, this lowers AUC compared to proximity-only. If the committee asks why: MID 412 (China) connects thousands of vessels into a massive clique — most never physically meet. Three effects: (1) Noise — registry edges that don’t correspond to co-occurrence. (2) Over-smoothing — dense neighborhoods blur embeddings. (3) Objective dilution — BCE loss treats social edges identically to proximity edges. The capped graph is a much easier task — don’t compare those numbers to the primary result. Future work: heterogeneous-edge architectures that weight edge types differently.</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Of the top 200 TGCN candidates, we applied a strict 25 km, plus-or-minus 1 day proximity filter on raw daily AIS tracks. Only 8 pairs survive. This figure shows the flagship pair — 412000690 and 412325200 — with 102 days within 25 km. Blue traces are one vessel, orange traces the other. The background heatmap shows combined daily presence density — warmer colors mean both vessels were frequently in that area. The hot spot in the Yellow Sea around 121 East, 37-39 North confirms the model’s abstract high score corresponds to real, sustained co-presence. If the model were surfacing random pairs, we would not expect their tracks to overlap like this.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post-hoc analysis that explains WHY only 8 survived. Step 1: we enrich each vessel with its dominant gear type by joining MMSI daily positions to cell-aggregated fleet data — 96 sampled days across 2012-2019 gives broad coverage. Step 2: separately, we compute a baseline of how often each gear combination shares the same grid cell in the fleet data — about 7 million cell-days. This tells us what’s “normal.” Step 3: we discount each candidate’s TGCN score by their gear pair’s baseline rate. The formula uses alpha=2 as the discount strength. Trawler-trawler pairs have high baselines (they’re everywhere together), so they get a big discount. Cross-gear pairs like fixed gear plus trawlers have low baselines — their scores are barely affected.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key finding. Trawlers dominate the candidate list for a simple reason: they’re the most common vessel type, they concentrate in the same fishing grounds, and two trawlers following the same seasonal fish migration look structurally identical to the TGCN. 80 of 82 trawler-trawler pairs fail the 25 km check — their graph similarity doesn’t translate to sustained physical proximity on a given day. Cross-gear pairs are the opposite. A fixed-gear vessel (stationary nets or traps) and a trawler (mobile) rarely share the same grid cell by chance. When the model flags such a pair AND the geographic filter confirms repeated 25 km proximity, that co-location is unlikely to be coincidental. That’s why fixed gear + trawlers passes at 25% — ten times the trawler-trawler rate.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Panel (a) shows the pass rate bars. The dashed line is the overall average at 4%. Cross-gear categories are all above average; trawler-trawler is below. The bracket highlights the 10x difference. Panel (b) is the table of the 8 validated pairs — MMSI identifiers, gear combination, whether they share a flag, days within 25 km, mean distance, and TGCN rank. Notice that 6 of 8 are cross-gear pairs. The two trawler-trawler pairs have higher mean distances (191 and 349 km) and lower ranks — they’re the weakest of the 8. The Set gillnets + Trawlers pair jumped 48 ranks after gear adjustment (72 to 24) — originally buried among trawler pairs, revealed as one of the most distinctive candidates.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gear-aware analysis serves as the justification layer. The 192 excluded pairs aren’t false positives in the traditional sense — the model genuinely detected shared movement patterns. But those patterns are explained by thousands of same-type vessels fishing the same waters. The filter correctly separates fleet-level noise from pair-specific signal. The fact that cross-gear pairs survive at 10x the rate means our validated set is enriched for the exact kind of encounter that warrants investigation — two vessels with different operating modes repeatedly appearing in close proximity.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row is one validated pair, sorted by total overlap days. Bubble size is proportional to days within 25 km that month. Pair 1 dominates — large bubbles clustered in 2015-2016, showing persistent co-presence over an extended period. Most other pairs are sporadic — a handful of small bubbles scattered across years, suggesting occasional rather than sustained proximity. Pair 7 is the only one involving a non-Chinese vessel (MID111). The pattern differences matter: persistent co-presence (Pair 1) is more suggestive of coordination than occasional encounters.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figure plots rendezvous locations for all eight validated pairs against the Chinese coast. The colored markers highlight six specific vessels that appear in multiple pairs — they form a cluster. The red X marks the weighted centroid at roughly 29.7 North, 122.3 East — about 50-80 km offshore from Ningbo in the East China Sea. The fact that vessels from different pairs converge on the same narrow band suggests a shared operating region rather than coincidence. This is consistent with the co-presence patterns in Figure 3.</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upfront about these. The most important one: link prediction is not a verdict. High scores mean “plausible future co-occurrence under the graph definition” — not guilt. AIS compliance is another real issue — vessels can turn off their transponders, so we only see what’s reported. The single-seed limitation is honest — we report per-bucket dispersion and cross-seed results on the capped graph, but full multi-seed CIs on the headline number await higher-memory hardware.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Summarize crisply. Emphasize: unsupervised (no labels), time-split (no leakage), reproducible (all code and commands in Appendix B). The gear-aware stratification is the analytical contribution that ties the whole story together — it explains WHY the filter works, not just THAT it works.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the committee asks what you’d do with more time: multi-seed is the obvious next step to get confidence intervals on the headline number. Heterogeneous edges would address the social-edge AUC drop by letting the model treat proximity and registry edges differently. Finer resolution and registry metadata would improve both the model inputs and the post-hoc validation.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the floor for questions. Have Figure 2 and the TGCN architecture diagram ready to flip back to — those are the two most likely reference slides during Q&amp;A.</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3.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6.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Graph-Based Screening for Potentially Cooperative Vessel Pairs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temporal link prediction approach using AIS (2012–2019)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indent="-342900" marL="342900">
              <a:buAutoNum type="arabicPeriod"/>
            </a:pPr>
            <a:r>
              <a:rPr/>
              <a:t>Problem &amp; motivation</a:t>
            </a:r>
          </a:p>
          <a:p>
            <a:pPr lvl="0" indent="-342900" marL="342900">
              <a:buAutoNum type="arabicPeriod"/>
            </a:pPr>
            <a:r>
              <a:rPr/>
              <a:t>Pipeline overview</a:t>
            </a:r>
          </a:p>
          <a:p>
            <a:pPr lvl="0" indent="-342900" marL="342900">
              <a:buAutoNum type="arabicPeriod"/>
            </a:pPr>
            <a:r>
              <a:rPr/>
              <a:t>Graph construction</a:t>
            </a:r>
          </a:p>
          <a:p>
            <a:pPr lvl="0" indent="-342900" marL="342900">
              <a:buAutoNum type="arabicPeriod"/>
            </a:pPr>
            <a:r>
              <a:rPr b="1"/>
              <a:t>Deep dive: the TGCN model</a:t>
            </a:r>
          </a:p>
          <a:p>
            <a:pPr lvl="0" indent="-342900" marL="342900">
              <a:buAutoNum type="arabicPeriod"/>
            </a:pPr>
            <a:r>
              <a:rPr/>
              <a:t>Results &amp; validation</a:t>
            </a:r>
          </a:p>
          <a:p>
            <a:pPr lvl="0" indent="-342900" marL="342900">
              <a:buAutoNum type="arabicPeriod"/>
            </a:pPr>
            <a:r>
              <a:rPr/>
              <a:t>Gear-aware stratification</a:t>
            </a:r>
          </a:p>
          <a:p>
            <a:pPr lvl="0" indent="-342900" marL="342900">
              <a:buAutoNum type="arabicPeriod"/>
            </a:pPr>
            <a:r>
              <a:rPr/>
              <a:t>Case studies</a:t>
            </a:r>
          </a:p>
          <a:p>
            <a:pPr lvl="0" indent="-342900" marL="342900">
              <a:buAutoNum type="arabicPeriod"/>
            </a:pPr>
            <a:r>
              <a:rPr/>
              <a:t>Limitations &amp; conclusion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Problem &amp; Motivation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Matters</a:t>
            </a:r>
          </a:p>
        </p:txBody>
      </p:sp>
      <p:sp>
        <p:nvSpPr>
          <p:cNvPr id="3" name="Content Placeholder 2"/>
          <p:cNvSpPr>
            <a:spLocks noGrp="1"/>
          </p:cNvSpPr>
          <p:nvPr>
            <p:ph idx="1"/>
          </p:nvPr>
        </p:nvSpPr>
        <p:spPr/>
        <p:txBody>
          <a:bodyPr/>
          <a:lstStyle/>
          <a:p>
            <a:pPr lvl="0"/>
            <a:r>
              <a:rPr b="1"/>
              <a:t>IUU fishing</a:t>
            </a:r>
            <a:r>
              <a:rPr/>
              <a:t> costs $10–23 B/year globally</a:t>
            </a:r>
          </a:p>
          <a:p>
            <a:pPr lvl="0"/>
            <a:r>
              <a:rPr/>
              <a:t>Enforcement needs tools to flag </a:t>
            </a:r>
            <a:r>
              <a:rPr b="1"/>
              <a:t>coordinated vessel behavior</a:t>
            </a:r>
          </a:p>
          <a:p>
            <a:pPr lvl="0"/>
            <a:r>
              <a:rPr/>
              <a:t>AIS gives billions of position records — but </a:t>
            </a:r>
            <a:r>
              <a:rPr b="1"/>
              <a:t>cooperation is never labeled</a:t>
            </a:r>
          </a:p>
          <a:p>
            <a:pPr lvl="0"/>
            <a:r>
              <a:rPr/>
              <a:t>No ground truth → </a:t>
            </a:r>
            <a:r>
              <a:rPr b="1"/>
              <a:t>supervised learning is not possible</a:t>
            </a:r>
          </a:p>
          <a:p>
            <a:pPr lvl="0" indent="0" marL="0">
              <a:buNone/>
            </a:pPr>
            <a:r>
              <a:rPr b="1"/>
              <a:t>Our approach:</a:t>
            </a:r>
            <a:r>
              <a:rPr/>
              <a:t> unsupervised screening pipeline — ranked candidate list for human review, not a verdict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Work Does — and Does Not Do</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Does</a:t>
                      </a:r>
                    </a:p>
                  </a:txBody>
                  <a:tcPr/>
                </a:tc>
                <a:tc>
                  <a:txBody>
                    <a:bodyPr/>
                    <a:lstStyle/>
                    <a:p>
                      <a:pPr lvl="0" indent="0" marL="0">
                        <a:buNone/>
                      </a:pPr>
                      <a:r>
                        <a:rPr/>
                        <a:t>Does not</a:t>
                      </a:r>
                    </a:p>
                  </a:txBody>
                  <a:tcPr/>
                </a:tc>
              </a:tr>
              <a:tr h="0">
                <a:tc>
                  <a:txBody>
                    <a:bodyPr/>
                    <a:lstStyle/>
                    <a:p>
                      <a:pPr lvl="0" indent="0" marL="0">
                        <a:buNone/>
                      </a:pPr>
                      <a:r>
                        <a:rPr/>
                        <a:t>Temporal link prediction on daily graphs</a:t>
                      </a:r>
                    </a:p>
                  </a:txBody>
                </a:tc>
                <a:tc>
                  <a:txBody>
                    <a:bodyPr/>
                    <a:lstStyle/>
                    <a:p>
                      <a:pPr lvl="0" indent="0" marL="0">
                        <a:buNone/>
                      </a:pPr>
                      <a:r>
                        <a:rPr/>
                        <a:t>Prove coordination or IUU</a:t>
                      </a:r>
                    </a:p>
                  </a:txBody>
                </a:tc>
              </a:tr>
              <a:tr h="0">
                <a:tc>
                  <a:txBody>
                    <a:bodyPr/>
                    <a:lstStyle/>
                    <a:p>
                      <a:pPr lvl="0" indent="0" marL="0">
                        <a:buNone/>
                      </a:pPr>
                      <a:r>
                        <a:rPr/>
                        <a:t>Ranked candidate list with scores</a:t>
                      </a:r>
                    </a:p>
                  </a:txBody>
                </a:tc>
                <a:tc>
                  <a:txBody>
                    <a:bodyPr/>
                    <a:lstStyle/>
                    <a:p>
                      <a:pPr lvl="0" indent="0" marL="0">
                        <a:buNone/>
                      </a:pPr>
                      <a:r>
                        <a:rPr/>
                        <a:t>Replace human analysis</a:t>
                      </a:r>
                    </a:p>
                  </a:txBody>
                </a:tc>
              </a:tr>
              <a:tr h="0">
                <a:tc>
                  <a:txBody>
                    <a:bodyPr/>
                    <a:lstStyle/>
                    <a:p>
                      <a:pPr lvl="0" indent="0" marL="0">
                        <a:buNone/>
                      </a:pPr>
                      <a:r>
                        <a:rPr/>
                        <a:t>Independent geographic validation</a:t>
                      </a:r>
                    </a:p>
                  </a:txBody>
                </a:tc>
                <a:tc>
                  <a:txBody>
                    <a:bodyPr/>
                    <a:lstStyle/>
                    <a:p>
                      <a:pPr lvl="0" indent="0" marL="0">
                        <a:buNone/>
                      </a:pPr>
                      <a:r>
                        <a:rPr/>
                        <a:t>Claim outputs are ground truth</a:t>
                      </a:r>
                    </a:p>
                  </a:txBody>
                </a:tc>
              </a:tr>
              <a:tr h="0">
                <a:tc>
                  <a:txBody>
                    <a:bodyPr/>
                    <a:lstStyle/>
                    <a:p>
                      <a:pPr lvl="0" indent="0" marL="0">
                        <a:buNone/>
                      </a:pPr>
                      <a:r>
                        <a:rPr/>
                        <a:t>Gear-aware characterization of excluded pairs</a:t>
                      </a:r>
                    </a:p>
                  </a:txBody>
                </a:tc>
                <a:tc>
                  <a:txBody>
                    <a:bodyPr/>
                    <a:lstStyle/>
                    <a:p>
                      <a:endParaRP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Pipeline Overview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End-to-End Pipeline</a:t>
            </a:r>
          </a:p>
        </p:txBody>
      </p:sp>
      <p:pic>
        <p:nvPicPr>
          <p:cNvPr descr="../artifacts/plots/pipeline_diagram.png" id="0" name="Picture 1"/>
          <p:cNvPicPr>
            <a:picLocks noGrp="1" noChangeAspect="1"/>
          </p:cNvPicPr>
          <p:nvPr/>
        </p:nvPicPr>
        <p:blipFill>
          <a:blip r:embed="rId3"/>
          <a:stretch>
            <a:fillRect/>
          </a:stretch>
        </p:blipFill>
        <p:spPr bwMode="auto">
          <a:xfrm>
            <a:off x="1993900" y="1193800"/>
            <a:ext cx="5168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Pipeline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Graph Construction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We Build Daily Graphs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Proximity edges</a:t>
                </a:r>
                <a:r>
                  <a:rPr/>
                  <a:t> (training signal):</a:t>
                </a:r>
              </a:p>
              <a:p>
                <a:pPr lvl="0"/>
                <a:r>
                  <a:rPr/>
                  <a:t>Same calendar day, Haversine distance ≤ </a:t>
                </a:r>
                <a:r>
                  <a:rPr b="1"/>
                  <a:t>10 km</a:t>
                </a:r>
                <a:r>
                  <a:rPr/>
                  <a:t> between daily mean positions</a:t>
                </a:r>
              </a:p>
              <a:p>
                <a:pPr lvl="0"/>
                <a:r>
                  <a:rPr/>
                  <a:t>This defines </a:t>
                </a:r>
                <a14:m>
                  <m:oMath xmlns:m="http://schemas.openxmlformats.org/officeDocument/2006/math">
                    <m:sSub>
                      <m:e>
                        <m:r>
                          <m:t>E</m:t>
                        </m:r>
                      </m:e>
                      <m:sub>
                        <m:r>
                          <m:t>t</m:t>
                        </m:r>
                      </m:sub>
                    </m:sSub>
                  </m:oMath>
                </a14:m>
                <a:r>
                  <a:rPr/>
                  <a:t> — the </a:t>
                </a:r>
                <a:r>
                  <a:rPr b="1"/>
                  <a:t>only</a:t>
                </a:r>
                <a:r>
                  <a:rPr/>
                  <a:t> distance used for training</a:t>
                </a:r>
              </a:p>
              <a:p>
                <a:pPr lvl="0" indent="0" marL="0">
                  <a:buNone/>
                </a:pPr>
                <a:r>
                  <a:rPr b="1"/>
                  <a:t>Social edges</a:t>
                </a:r>
                <a:r>
                  <a:rPr/>
                  <a:t> (optional augmentation):</a:t>
                </a:r>
              </a:p>
              <a:p>
                <a:pPr lvl="0"/>
                <a:r>
                  <a:rPr/>
                  <a:t>Same </a:t>
                </a:r>
                <a:r>
                  <a:rPr b="1"/>
                  <a:t>3-digit ITU MID</a:t>
                </a:r>
                <a:r>
                  <a:rPr/>
                  <a:t> prefix (e.g., 412 = China)</a:t>
                </a:r>
              </a:p>
              <a:p>
                <a:pPr lvl="0"/>
                <a:r>
                  <a:rPr/>
                  <a:t>Capped at </a:t>
                </a:r>
                <a:r>
                  <a:rPr b="1"/>
                  <a:t>2,000 per day</a:t>
                </a:r>
                <a:r>
                  <a:rPr/>
                  <a:t> to keep graphs tractable</a:t>
                </a:r>
              </a:p>
              <a:p>
                <a:pPr lvl="0" indent="0" marL="0">
                  <a:buNone/>
                </a:pPr>
                <a:r>
                  <a:rPr b="1"/>
                  <a:t>Critical distinction:</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Distance</a:t>
                      </a:r>
                    </a:p>
                  </a:txBody>
                  <a:tcPr/>
                </a:tc>
                <a:tc>
                  <a:txBody>
                    <a:bodyPr/>
                    <a:lstStyle/>
                    <a:p>
                      <a:pPr lvl="0" indent="0" marL="0">
                        <a:buNone/>
                      </a:pPr>
                      <a:r>
                        <a:rPr/>
                        <a:t>Purpose</a:t>
                      </a:r>
                    </a:p>
                  </a:txBody>
                  <a:tcPr/>
                </a:tc>
              </a:tr>
              <a:tr h="0">
                <a:tc>
                  <a:txBody>
                    <a:bodyPr/>
                    <a:lstStyle/>
                    <a:p>
                      <a:pPr lvl="0" indent="0" marL="0">
                        <a:buNone/>
                      </a:pPr>
                      <a:r>
                        <a:rPr b="1"/>
                        <a:t>Training</a:t>
                      </a:r>
                    </a:p>
                  </a:txBody>
                </a:tc>
                <a:tc>
                  <a:txBody>
                    <a:bodyPr/>
                    <a:lstStyle/>
                    <a:p>
                      <a:pPr lvl="0" indent="0" marL="0">
                        <a:buNone/>
                      </a:pPr>
                      <a:r>
                        <a:rPr/>
                        <a:t>≤ 10 km, same day</a:t>
                      </a:r>
                    </a:p>
                  </a:txBody>
                </a:tc>
                <a:tc>
                  <a:txBody>
                    <a:bodyPr/>
                    <a:lstStyle/>
                    <a:p>
                      <a:pPr lvl="0" indent="0" marL="0">
                        <a:buNone/>
                      </a:pPr>
                      <a:r>
                        <a:rPr/>
                        <a:t>Defines graph edges</a:t>
                      </a:r>
                    </a:p>
                  </a:txBody>
                </a:tc>
              </a:tr>
              <a:tr h="0">
                <a:tc>
                  <a:txBody>
                    <a:bodyPr/>
                    <a:lstStyle/>
                    <a:p>
                      <a:pPr lvl="0" indent="0" marL="0">
                        <a:buNone/>
                      </a:pPr>
                      <a:r>
                        <a:rPr b="1"/>
                        <a:t>Validation</a:t>
                      </a:r>
                    </a:p>
                  </a:txBody>
                </a:tc>
                <a:tc>
                  <a:txBody>
                    <a:bodyPr/>
                    <a:lstStyle/>
                    <a:p>
                      <a:pPr lvl="0" indent="0" marL="0">
                        <a:buNone/>
                      </a:pPr>
                      <a:r>
                        <a:rPr/>
                        <a:t>25 km, ±1 day</a:t>
                      </a:r>
                    </a:p>
                  </a:txBody>
                </a:tc>
                <a:tc>
                  <a:txBody>
                    <a:bodyPr/>
                    <a:lstStyle/>
                    <a:p>
                      <a:pPr lvl="0" indent="0" marL="0">
                        <a:buNone/>
                      </a:pPr>
                      <a:r>
                        <a:rPr/>
                        <a:t>Post-hoc check on raw tracks</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Deep Dive: The TGCN Model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a TGCN?</a:t>
            </a:r>
          </a:p>
        </p:txBody>
      </p:sp>
      <p:sp>
        <p:nvSpPr>
          <p:cNvPr id="3" name="Content Placeholder 2"/>
          <p:cNvSpPr>
            <a:spLocks noGrp="1"/>
          </p:cNvSpPr>
          <p:nvPr>
            <p:ph idx="1"/>
          </p:nvPr>
        </p:nvSpPr>
        <p:spPr/>
        <p:txBody>
          <a:bodyPr/>
          <a:lstStyle/>
          <a:p>
            <a:pPr lvl="0" indent="0" marL="0">
              <a:buNone/>
            </a:pPr>
            <a:r>
              <a:rPr/>
              <a:t>Combines two ideas:</a:t>
            </a:r>
          </a:p>
          <a:p>
            <a:pPr lvl="0"/>
            <a:r>
              <a:rPr b="1"/>
              <a:t>GCN</a:t>
            </a:r>
            <a:r>
              <a:rPr/>
              <a:t> — learns from who is near whom on a </a:t>
            </a:r>
            <a:r>
              <a:rPr b="1"/>
              <a:t>single day</a:t>
            </a:r>
          </a:p>
          <a:p>
            <a:pPr lvl="0"/>
            <a:r>
              <a:rPr b="1"/>
              <a:t>GRU</a:t>
            </a:r>
            <a:r>
              <a:rPr/>
              <a:t> — learns how that structure </a:t>
            </a:r>
            <a:r>
              <a:rPr b="1"/>
              <a:t>changes across days</a:t>
            </a:r>
          </a:p>
          <a:p>
            <a:pPr lvl="0" indent="0" marL="0">
              <a:buNone/>
            </a:pPr>
            <a:r>
              <a:rPr b="1"/>
              <a:t>Key insight:</a:t>
            </a:r>
            <a:r>
              <a:rPr/>
              <a:t> Replace the GRU’s linear layers with </a:t>
            </a:r>
            <a:r>
              <a:rPr b="1"/>
              <a:t>graph convolutions</a:t>
            </a:r>
            <a:r>
              <a:rPr/>
              <a:t> → the recurrence is </a:t>
            </a:r>
            <a:r>
              <a:rPr i="1"/>
              <a:t>graph-aware</a:t>
            </a:r>
          </a:p>
          <a:p>
            <a:pPr lvl="0" indent="0" marL="0">
              <a:buNone/>
            </a:pPr>
            <a:r>
              <a:rPr/>
              <a:t>Each vessel’s hidden state is updated based on </a:t>
            </a:r>
            <a:r>
              <a:rPr b="1"/>
              <a:t>its neighbors</a:t>
            </a:r>
            <a:r>
              <a:rPr/>
              <a:t> in that day’s graph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GCNConv Works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each vessel </a:t>
                </a:r>
                <a14:m>
                  <m:oMath xmlns:m="http://schemas.openxmlformats.org/officeDocument/2006/math">
                    <m:r>
                      <m:t>u</m:t>
                    </m:r>
                  </m:oMath>
                </a14:m>
                <a:r>
                  <a:rPr/>
                  <a:t>, aggregate neighbor features:</a:t>
                </a:r>
              </a:p>
              <a:p>
                <a:pPr lvl="0" indent="0" marL="0">
                  <a:buNone/>
                </a:pPr>
                <a14:m>
                  <m:oMathPara xmlns:m="http://schemas.openxmlformats.org/officeDocument/2006/math">
                    <m:oMathParaPr>
                      <m:jc m:val="center"/>
                    </m:oMathParaPr>
                    <m:oMath>
                      <m:sSubSup>
                        <m:e>
                          <m:r>
                            <m:rPr>
                              <m:sty m:val="bi"/>
                            </m:rPr>
                            <m:t>h</m:t>
                          </m:r>
                        </m:e>
                        <m:sub>
                          <m:r>
                            <m:t>u</m:t>
                          </m:r>
                        </m:sub>
                        <m:sup>
                          <m:r>
                            <m:rPr>
                              <m:sty m:val="p"/>
                            </m:rPr>
                            <m:t>′</m:t>
                          </m:r>
                        </m:sup>
                      </m:sSubSup>
                      <m:r>
                        <m:rPr>
                          <m:sty m:val="p"/>
                        </m:rPr>
                        <m:t>=</m:t>
                      </m:r>
                      <m:r>
                        <m:t>σ</m:t>
                      </m:r>
                      <m:r>
                        <m:t>​</m:t>
                      </m:r>
                      <m:d>
                        <m:dPr>
                          <m:begChr m:val="("/>
                          <m:sepChr m:val=""/>
                          <m:endChr m:val=")"/>
                          <m:grow/>
                        </m:dPr>
                        <m:e>
                          <m:nary>
                            <m:naryPr>
                              <m:chr m:val="∑"/>
                              <m:limLoc m:val="undOvr"/>
                              <m:subHide m:val="off"/>
                              <m:supHide m:val="on"/>
                            </m:naryPr>
                            <m:sub>
                              <m:r>
                                <m:t>v</m:t>
                              </m:r>
                              <m:r>
                                <m:rPr>
                                  <m:sty m:val="p"/>
                                </m:rPr>
                                <m:t>∈</m:t>
                              </m:r>
                              <m:r>
                                <m:rPr>
                                  <m:scr m:val="script"/>
                                  <m:sty m:val="p"/>
                                </m:rPr>
                                <m:t>N</m:t>
                              </m:r>
                              <m:r>
                                <m:rPr>
                                  <m:sty m:val="p"/>
                                </m:rPr>
                                <m:t>(</m:t>
                              </m:r>
                              <m:r>
                                <m:t>u</m:t>
                              </m:r>
                              <m:r>
                                <m:rPr>
                                  <m:sty m:val="p"/>
                                </m:rPr>
                                <m:t>)</m:t>
                              </m:r>
                              <m:r>
                                <m:rPr>
                                  <m:sty m:val="p"/>
                                </m:rPr>
                                <m:t>∪</m:t>
                              </m:r>
                              <m:r>
                                <m:rPr>
                                  <m:sty m:val="p"/>
                                </m:rPr>
                                <m:t>{</m:t>
                              </m:r>
                              <m:r>
                                <m:t>u</m:t>
                              </m:r>
                              <m:r>
                                <m:rPr>
                                  <m:sty m:val="p"/>
                                </m:rPr>
                                <m:t>}</m:t>
                              </m:r>
                            </m:sub>
                            <m:sup>
                              <m:r>
                                <m:t>​</m:t>
                              </m:r>
                            </m:sup>
                            <m:e>
                              <m:f>
                                <m:fPr>
                                  <m:type m:val="bar"/>
                                </m:fPr>
                                <m:num>
                                  <m:r>
                                    <m:t>1</m:t>
                                  </m:r>
                                </m:num>
                                <m:den>
                                  <m:rad>
                                    <m:radPr>
                                      <m:degHide m:val="on"/>
                                    </m:radPr>
                                    <m:deg/>
                                    <m:e>
                                      <m:sSub>
                                        <m:e>
                                          <m:r>
                                            <m:t>d</m:t>
                                          </m:r>
                                        </m:e>
                                        <m:sub>
                                          <m:r>
                                            <m:t>u</m:t>
                                          </m:r>
                                        </m:sub>
                                      </m:sSub>
                                      <m:r>
                                        <m:rPr>
                                          <m:sty m:val="p"/>
                                        </m:rPr>
                                        <m:t>⋅</m:t>
                                      </m:r>
                                      <m:sSub>
                                        <m:e>
                                          <m:r>
                                            <m:t>d</m:t>
                                          </m:r>
                                        </m:e>
                                        <m:sub>
                                          <m:r>
                                            <m:t>v</m:t>
                                          </m:r>
                                        </m:sub>
                                      </m:sSub>
                                    </m:e>
                                  </m:rad>
                                </m:den>
                              </m:f>
                            </m:e>
                          </m:nary>
                          <m:r>
                            <m:t> </m:t>
                          </m:r>
                          <m:r>
                            <m:rPr>
                              <m:sty m:val="bi"/>
                            </m:rPr>
                            <m:t>W</m:t>
                          </m:r>
                          <m:r>
                            <m:t> </m:t>
                          </m:r>
                          <m:sSub>
                            <m:e>
                              <m:r>
                                <m:rPr>
                                  <m:sty m:val="bi"/>
                                </m:rPr>
                                <m:t>h</m:t>
                              </m:r>
                            </m:e>
                            <m:sub>
                              <m:r>
                                <m:t>v</m:t>
                              </m:r>
                            </m:sub>
                          </m:sSub>
                        </m:e>
                      </m:d>
                    </m:oMath>
                  </m:oMathPara>
                </a14:m>
              </a:p>
              <a:p>
                <a:pPr lvl="0" indent="0" marL="0">
                  <a:buNone/>
                </a:pPr>
                <a:r>
                  <a:rPr b="1"/>
                  <a:t>In plain English:</a:t>
                </a:r>
              </a:p>
              <a:p>
                <a:pPr lvl="0"/>
                <a:r>
                  <a:rPr/>
                  <a:t>Look at all vessels within 10 km today</a:t>
                </a:r>
              </a:p>
              <a:p>
                <a:pPr lvl="0"/>
                <a:r>
                  <a:rPr b="1"/>
                  <a:t>Weighted average</a:t>
                </a:r>
                <a:r>
                  <a:rPr/>
                  <a:t> of their features (inverse degree normalization)</a:t>
                </a:r>
              </a:p>
              <a:p>
                <a:pPr lvl="0"/>
                <a:r>
                  <a:rPr/>
                  <a:t>Multiply by </a:t>
                </a:r>
                <a:r>
                  <a:rPr b="1"/>
                  <a:t>learnable weights</a:t>
                </a:r>
                <a:r>
                  <a:rPr/>
                  <a:t> </a:t>
                </a:r>
                <a14:m>
                  <m:oMath xmlns:m="http://schemas.openxmlformats.org/officeDocument/2006/math">
                    <m:r>
                      <m:rPr>
                        <m:sty m:val="bi"/>
                      </m:rPr>
                      <m:t>W</m:t>
                    </m:r>
                  </m:oMath>
                </a14:m>
              </a:p>
              <a:p>
                <a:pPr lvl="0"/>
                <a:r>
                  <a:rPr/>
                  <a:t>Result: each embedding encodes the </a:t>
                </a:r>
                <a:r>
                  <a:rPr b="1"/>
                  <a:t>local neighborhood structure</a:t>
                </a:r>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Inside the TGCN Cell</a:t>
            </a:r>
          </a:p>
        </p:txBody>
      </p:sp>
      <p:pic>
        <p:nvPicPr>
          <p:cNvPr descr="../artifacts/plots/tgcn_architecture.png" id="0" name="Picture 1"/>
          <p:cNvPicPr>
            <a:picLocks noGrp="1" noChangeAspect="1"/>
          </p:cNvPicPr>
          <p:nvPr/>
        </p:nvPicPr>
        <p:blipFill>
          <a:blip r:embed="rId3"/>
          <a:stretch>
            <a:fillRect/>
          </a:stretch>
        </p:blipFill>
        <p:spPr bwMode="auto">
          <a:xfrm>
            <a:off x="1993900" y="1193800"/>
            <a:ext cx="5168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TGCN Architecture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Three Gates — Equations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Update gate</a:t>
                </a:r>
                <a:r>
                  <a:rPr/>
                  <a:t> — how much to keep from yesterday:</a:t>
                </a:r>
              </a:p>
              <a:p>
                <a:pPr lvl="0" indent="0" marL="0">
                  <a:buNone/>
                </a:pPr>
                <a14:m>
                  <m:oMathPara xmlns:m="http://schemas.openxmlformats.org/officeDocument/2006/math">
                    <m:oMathParaPr>
                      <m:jc m:val="center"/>
                    </m:oMathParaPr>
                    <m:oMath>
                      <m:sSub>
                        <m:e>
                          <m:r>
                            <m:t>Z</m:t>
                          </m:r>
                        </m:e>
                        <m:sub>
                          <m:r>
                            <m:t>t</m:t>
                          </m:r>
                        </m:sub>
                      </m:sSub>
                      <m:r>
                        <m:rPr>
                          <m:sty m:val="p"/>
                        </m:rPr>
                        <m:t>=</m:t>
                      </m:r>
                      <m:r>
                        <m:t>σ</m:t>
                      </m:r>
                      <m:d>
                        <m:dPr>
                          <m:begChr m:val="("/>
                          <m:sepChr m:val=""/>
                          <m:endChr m:val=")"/>
                          <m:grow/>
                        </m:dPr>
                        <m:e>
                          <m:r>
                            <m:rPr>
                              <m:nor/>
                              <m:sty m:val="p"/>
                            </m:rPr>
                            <m:t>Linear</m:t>
                          </m:r>
                          <m:r>
                            <m:rPr>
                              <m:sty m:val="p"/>
                            </m:rPr>
                            <m:t>[</m:t>
                          </m:r>
                          <m:r>
                            <m:rPr>
                              <m:nor/>
                              <m:sty m:val="p"/>
                            </m:rPr>
                            <m:t>GCNConv</m:t>
                          </m:r>
                          <m:r>
                            <m:rPr>
                              <m:sty m:val="p"/>
                            </m:rPr>
                            <m:t>(</m:t>
                          </m:r>
                          <m:sSub>
                            <m:e>
                              <m:r>
                                <m:t>X</m:t>
                              </m:r>
                            </m:e>
                            <m:sub>
                              <m:r>
                                <m:t>t</m:t>
                              </m:r>
                            </m:sub>
                          </m:sSub>
                          <m:r>
                            <m:rPr>
                              <m:sty m:val="p"/>
                            </m:rPr>
                            <m:t>)</m:t>
                          </m:r>
                          <m:r>
                            <m:rPr>
                              <m:sty m:val="p"/>
                            </m:rPr>
                            <m:t>∥</m:t>
                          </m:r>
                          <m:sSub>
                            <m:e>
                              <m:r>
                                <m:t>H</m:t>
                              </m:r>
                            </m:e>
                            <m:sub>
                              <m:r>
                                <m:t>t</m:t>
                              </m:r>
                              <m:r>
                                <m:rPr>
                                  <m:sty m:val="p"/>
                                </m:rPr>
                                <m:t>−</m:t>
                              </m:r>
                              <m:r>
                                <m:t>1</m:t>
                              </m:r>
                            </m:sub>
                          </m:sSub>
                          <m:r>
                            <m:rPr>
                              <m:sty m:val="p"/>
                            </m:rPr>
                            <m:t>]</m:t>
                          </m:r>
                        </m:e>
                      </m:d>
                    </m:oMath>
                  </m:oMathPara>
                </a14:m>
              </a:p>
              <a:p>
                <a:pPr lvl="0" indent="0" marL="0">
                  <a:buNone/>
                </a:pPr>
                <a:r>
                  <a:rPr b="1"/>
                  <a:t>Reset gate</a:t>
                </a:r>
                <a:r>
                  <a:rPr/>
                  <a:t> — how much of yesterday to forget:</a:t>
                </a:r>
              </a:p>
              <a:p>
                <a:pPr lvl="0" indent="0" marL="0">
                  <a:buNone/>
                </a:pPr>
                <a14:m>
                  <m:oMathPara xmlns:m="http://schemas.openxmlformats.org/officeDocument/2006/math">
                    <m:oMathParaPr>
                      <m:jc m:val="center"/>
                    </m:oMathParaPr>
                    <m:oMath>
                      <m:sSub>
                        <m:e>
                          <m:r>
                            <m:t>R</m:t>
                          </m:r>
                        </m:e>
                        <m:sub>
                          <m:r>
                            <m:t>t</m:t>
                          </m:r>
                        </m:sub>
                      </m:sSub>
                      <m:r>
                        <m:rPr>
                          <m:sty m:val="p"/>
                        </m:rPr>
                        <m:t>=</m:t>
                      </m:r>
                      <m:r>
                        <m:t>σ</m:t>
                      </m:r>
                      <m:d>
                        <m:dPr>
                          <m:begChr m:val="("/>
                          <m:sepChr m:val=""/>
                          <m:endChr m:val=")"/>
                          <m:grow/>
                        </m:dPr>
                        <m:e>
                          <m:r>
                            <m:rPr>
                              <m:nor/>
                              <m:sty m:val="p"/>
                            </m:rPr>
                            <m:t>Linear</m:t>
                          </m:r>
                          <m:r>
                            <m:rPr>
                              <m:sty m:val="p"/>
                            </m:rPr>
                            <m:t>[</m:t>
                          </m:r>
                          <m:r>
                            <m:rPr>
                              <m:nor/>
                              <m:sty m:val="p"/>
                            </m:rPr>
                            <m:t>GCNConv</m:t>
                          </m:r>
                          <m:r>
                            <m:rPr>
                              <m:sty m:val="p"/>
                            </m:rPr>
                            <m:t>(</m:t>
                          </m:r>
                          <m:sSub>
                            <m:e>
                              <m:r>
                                <m:t>X</m:t>
                              </m:r>
                            </m:e>
                            <m:sub>
                              <m:r>
                                <m:t>t</m:t>
                              </m:r>
                            </m:sub>
                          </m:sSub>
                          <m:r>
                            <m:rPr>
                              <m:sty m:val="p"/>
                            </m:rPr>
                            <m:t>)</m:t>
                          </m:r>
                          <m:r>
                            <m:rPr>
                              <m:sty m:val="p"/>
                            </m:rPr>
                            <m:t>∥</m:t>
                          </m:r>
                          <m:sSub>
                            <m:e>
                              <m:r>
                                <m:t>H</m:t>
                              </m:r>
                            </m:e>
                            <m:sub>
                              <m:r>
                                <m:t>t</m:t>
                              </m:r>
                              <m:r>
                                <m:rPr>
                                  <m:sty m:val="p"/>
                                </m:rPr>
                                <m:t>−</m:t>
                              </m:r>
                              <m:r>
                                <m:t>1</m:t>
                              </m:r>
                            </m:sub>
                          </m:sSub>
                          <m:r>
                            <m:rPr>
                              <m:sty m:val="p"/>
                            </m:rPr>
                            <m:t>]</m:t>
                          </m:r>
                        </m:e>
                      </m:d>
                    </m:oMath>
                  </m:oMathPara>
                </a14:m>
              </a:p>
              <a:p>
                <a:pPr lvl="0" indent="0" marL="0">
                  <a:buNone/>
                </a:pPr>
                <a:r>
                  <a:rPr b="1"/>
                  <a:t>Candidate state</a:t>
                </a:r>
                <a:r>
                  <a:rPr/>
                  <a:t> — what today’s graph suggests:</a:t>
                </a:r>
              </a:p>
              <a:p>
                <a:pPr lvl="0" indent="0" marL="0">
                  <a:buNone/>
                </a:pPr>
                <a14:m>
                  <m:oMathPara xmlns:m="http://schemas.openxmlformats.org/officeDocument/2006/math">
                    <m:oMathParaPr>
                      <m:jc m:val="center"/>
                    </m:oMathParaPr>
                    <m:oMath>
                      <m:sSub>
                        <m:e>
                          <m:acc>
                            <m:accPr>
                              <m:chr m:val="̃"/>
                            </m:accPr>
                            <m:e>
                              <m:r>
                                <m:t>H</m:t>
                              </m:r>
                            </m:e>
                          </m:acc>
                        </m:e>
                        <m:sub>
                          <m:r>
                            <m:t>t</m:t>
                          </m:r>
                        </m:sub>
                      </m:sSub>
                      <m:r>
                        <m:rPr>
                          <m:sty m:val="p"/>
                        </m:rPr>
                        <m:t>=</m:t>
                      </m:r>
                      <m:r>
                        <m:rPr>
                          <m:sty m:val="p"/>
                        </m:rPr>
                        <m:t>tanh</m:t>
                      </m:r>
                      <m:d>
                        <m:dPr>
                          <m:begChr m:val="("/>
                          <m:sepChr m:val=""/>
                          <m:endChr m:val=")"/>
                          <m:grow/>
                        </m:dPr>
                        <m:e>
                          <m:r>
                            <m:rPr>
                              <m:nor/>
                              <m:sty m:val="p"/>
                            </m:rPr>
                            <m:t>Linear</m:t>
                          </m:r>
                          <m:r>
                            <m:rPr>
                              <m:sty m:val="p"/>
                            </m:rPr>
                            <m:t>[</m:t>
                          </m:r>
                          <m:r>
                            <m:rPr>
                              <m:nor/>
                              <m:sty m:val="p"/>
                            </m:rPr>
                            <m:t>GCNConv</m:t>
                          </m:r>
                          <m:r>
                            <m:rPr>
                              <m:sty m:val="p"/>
                            </m:rPr>
                            <m:t>(</m:t>
                          </m:r>
                          <m:sSub>
                            <m:e>
                              <m:r>
                                <m:t>X</m:t>
                              </m:r>
                            </m:e>
                            <m:sub>
                              <m:r>
                                <m:t>t</m:t>
                              </m:r>
                            </m:sub>
                          </m:sSub>
                          <m:r>
                            <m:rPr>
                              <m:sty m:val="p"/>
                            </m:rPr>
                            <m:t>)</m:t>
                          </m:r>
                          <m:r>
                            <m:rPr>
                              <m:sty m:val="p"/>
                            </m:rPr>
                            <m:t>∥</m:t>
                          </m:r>
                          <m:sSub>
                            <m:e>
                              <m:r>
                                <m:t>R</m:t>
                              </m:r>
                            </m:e>
                            <m:sub>
                              <m:r>
                                <m:t>t</m:t>
                              </m:r>
                            </m:sub>
                          </m:sSub>
                          <m:r>
                            <m:rPr>
                              <m:sty m:val="p"/>
                            </m:rPr>
                            <m:t>⊙</m:t>
                          </m:r>
                          <m:sSub>
                            <m:e>
                              <m:r>
                                <m:t>H</m:t>
                              </m:r>
                            </m:e>
                            <m:sub>
                              <m:r>
                                <m:t>t</m:t>
                              </m:r>
                              <m:r>
                                <m:rPr>
                                  <m:sty m:val="p"/>
                                </m:rPr>
                                <m:t>−</m:t>
                              </m:r>
                              <m:r>
                                <m:t>1</m:t>
                              </m:r>
                            </m:sub>
                          </m:sSub>
                          <m:r>
                            <m:rPr>
                              <m:sty m:val="p"/>
                            </m:rPr>
                            <m:t>]</m:t>
                          </m:r>
                        </m:e>
                      </m:d>
                    </m:oMath>
                  </m:oMathPara>
                </a14:m>
              </a:p>
              <a:p>
                <a:pPr lvl="0" indent="0" marL="0">
                  <a:buNone/>
                </a:pPr>
                <a:r>
                  <a:rPr b="1"/>
                  <a:t>Final hidden state</a:t>
                </a:r>
                <a:r>
                  <a:rPr/>
                  <a:t> — blend:</a:t>
                </a:r>
              </a:p>
              <a:p>
                <a:pPr lvl="0" indent="0" marL="0">
                  <a:buNone/>
                </a:pPr>
                <a14:m>
                  <m:oMathPara xmlns:m="http://schemas.openxmlformats.org/officeDocument/2006/math">
                    <m:oMathParaPr>
                      <m:jc m:val="center"/>
                    </m:oMathParaPr>
                    <m:oMath>
                      <m:sSub>
                        <m:e>
                          <m:r>
                            <m:t>H</m:t>
                          </m:r>
                        </m:e>
                        <m:sub>
                          <m:r>
                            <m:t>t</m:t>
                          </m:r>
                        </m:sub>
                      </m:sSub>
                      <m:r>
                        <m:rPr>
                          <m:sty m:val="p"/>
                        </m:rPr>
                        <m:t>=</m:t>
                      </m:r>
                      <m:sSub>
                        <m:e>
                          <m:r>
                            <m:t>Z</m:t>
                          </m:r>
                        </m:e>
                        <m:sub>
                          <m:r>
                            <m:t>t</m:t>
                          </m:r>
                        </m:sub>
                      </m:sSub>
                      <m:r>
                        <m:rPr>
                          <m:sty m:val="p"/>
                        </m:rPr>
                        <m:t>⊙</m:t>
                      </m:r>
                      <m:sSub>
                        <m:e>
                          <m:r>
                            <m:t>H</m:t>
                          </m:r>
                        </m:e>
                        <m:sub>
                          <m:r>
                            <m:t>t</m:t>
                          </m:r>
                          <m:r>
                            <m:rPr>
                              <m:sty m:val="p"/>
                            </m:rPr>
                            <m:t>−</m:t>
                          </m:r>
                          <m:r>
                            <m:t>1</m:t>
                          </m:r>
                        </m:sub>
                      </m:sSub>
                      <m:r>
                        <m:rPr>
                          <m:sty m:val="p"/>
                        </m:rPr>
                        <m:t>+</m:t>
                      </m:r>
                      <m:r>
                        <m:rPr>
                          <m:sty m:val="p"/>
                        </m:rPr>
                        <m:t>(</m:t>
                      </m:r>
                      <m:r>
                        <m:t>1</m:t>
                      </m:r>
                      <m:r>
                        <m:rPr>
                          <m:sty m:val="p"/>
                        </m:rPr>
                        <m:t>−</m:t>
                      </m:r>
                      <m:sSub>
                        <m:e>
                          <m:r>
                            <m:t>Z</m:t>
                          </m:r>
                        </m:e>
                        <m:sub>
                          <m:r>
                            <m:t>t</m:t>
                          </m:r>
                        </m:sub>
                      </m:sSub>
                      <m:r>
                        <m:rPr>
                          <m:sty m:val="p"/>
                        </m:rPr>
                        <m:t>)</m:t>
                      </m:r>
                      <m:r>
                        <m:rPr>
                          <m:sty m:val="p"/>
                        </m:rPr>
                        <m:t>⊙</m:t>
                      </m:r>
                      <m:sSub>
                        <m:e>
                          <m:acc>
                            <m:accPr>
                              <m:chr m:val="̃"/>
                            </m:accPr>
                            <m:e>
                              <m:r>
                                <m:t>H</m:t>
                              </m:r>
                            </m:e>
                          </m:acc>
                        </m:e>
                        <m:sub>
                          <m:r>
                            <m:t>t</m:t>
                          </m:r>
                        </m:sub>
                      </m:sSub>
                    </m:oMath>
                  </m:oMathPara>
                </a14:m>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Node Features (Input to the TGCN)</a:t>
            </a:r>
          </a:p>
        </p:txBody>
      </p:sp>
      <p:sp>
        <p:nvSpPr>
          <p:cNvPr id="3" name="Content Placeholder 2"/>
          <p:cNvSpPr>
            <a:spLocks noGrp="1"/>
          </p:cNvSpPr>
          <p:nvPr>
            <p:ph idx="1"/>
          </p:nvPr>
        </p:nvSpPr>
        <p:spPr/>
        <p:txBody>
          <a:bodyPr/>
          <a:lstStyle/>
          <a:p>
            <a:pPr lvl="0" indent="0" marL="0">
              <a:buNone/>
            </a:pPr>
            <a:r>
              <a:rPr b="1"/>
              <a:t>5 features per vessel per day</a:t>
            </a:r>
            <a:r>
              <a:rPr/>
              <a:t> (all z-score standardized):</a:t>
            </a:r>
          </a:p>
          <a:p>
            <a:pPr lvl="0" indent="-342900" marL="342900">
              <a:buAutoNum type="arabicPeriod"/>
            </a:pPr>
            <a:r>
              <a:rPr b="1"/>
              <a:t>Degree</a:t>
            </a:r>
            <a:r>
              <a:rPr/>
              <a:t> (daily) — neighbors within 10 km today</a:t>
            </a:r>
          </a:p>
          <a:p>
            <a:pPr lvl="0" indent="-342900" marL="342900">
              <a:buAutoNum type="arabicPeriod"/>
            </a:pPr>
            <a:r>
              <a:rPr b="1"/>
              <a:t>Interaction count</a:t>
            </a:r>
            <a:r>
              <a:rPr/>
              <a:t> (static) — total edges across training</a:t>
            </a:r>
          </a:p>
          <a:p>
            <a:pPr lvl="0" indent="-342900" marL="342900">
              <a:buAutoNum type="arabicPeriod"/>
            </a:pPr>
            <a:r>
              <a:rPr b="1"/>
              <a:t>Unique partners</a:t>
            </a:r>
            <a:r>
              <a:rPr/>
              <a:t> (static) — distinct co-occurring vessels</a:t>
            </a:r>
          </a:p>
          <a:p>
            <a:pPr lvl="0" indent="-342900" marL="342900">
              <a:buAutoNum type="arabicPeriod"/>
            </a:pPr>
            <a:r>
              <a:rPr b="1"/>
              <a:t>Last seen</a:t>
            </a:r>
            <a:r>
              <a:rPr/>
              <a:t> (static) — days since last appearance</a:t>
            </a:r>
          </a:p>
          <a:p>
            <a:pPr lvl="0" indent="-342900" marL="342900">
              <a:buAutoNum type="arabicPeriod"/>
            </a:pPr>
            <a:r>
              <a:rPr b="1"/>
              <a:t>Mean gap</a:t>
            </a:r>
            <a:r>
              <a:rPr/>
              <a:t> (static) — average interval between appearances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Scoring: Embeddings → Pair Predictions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After processing day </a:t>
                </a:r>
                <a14:m>
                  <m:oMath xmlns:m="http://schemas.openxmlformats.org/officeDocument/2006/math">
                    <m:r>
                      <m:t>t</m:t>
                    </m:r>
                  </m:oMath>
                </a14:m>
                <a:r>
                  <a:rPr/>
                  <a:t>, each vessel </a:t>
                </a:r>
                <a14:m>
                  <m:oMath xmlns:m="http://schemas.openxmlformats.org/officeDocument/2006/math">
                    <m:r>
                      <m:t>u</m:t>
                    </m:r>
                  </m:oMath>
                </a14:m>
                <a:r>
                  <a:rPr/>
                  <a:t> has embedding </a:t>
                </a:r>
                <a14:m>
                  <m:oMath xmlns:m="http://schemas.openxmlformats.org/officeDocument/2006/math">
                    <m:sSub>
                      <m:e>
                        <m:r>
                          <m:rPr>
                            <m:sty m:val="bi"/>
                          </m:rPr>
                          <m:t>h</m:t>
                        </m:r>
                      </m:e>
                      <m:sub>
                        <m:r>
                          <m:t>u</m:t>
                        </m:r>
                      </m:sub>
                    </m:sSub>
                    <m:r>
                      <m:rPr>
                        <m:sty m:val="p"/>
                      </m:rPr>
                      <m:t>∈</m:t>
                    </m:r>
                    <m:sSup>
                      <m:e>
                        <m:r>
                          <m:rPr>
                            <m:scr m:val="double-struck"/>
                            <m:sty m:val="p"/>
                          </m:rPr>
                          <m:t>R</m:t>
                        </m:r>
                      </m:e>
                      <m:sup>
                        <m:r>
                          <m:t>32</m:t>
                        </m:r>
                      </m:sup>
                    </m:sSup>
                  </m:oMath>
                </a14:m>
              </a:p>
              <a:p>
                <a:pPr lvl="0" indent="0" marL="0">
                  <a:buNone/>
                </a:pPr>
                <a:r>
                  <a:rPr b="1"/>
                  <a:t>Pair score (inner product):</a:t>
                </a:r>
              </a:p>
              <a:p>
                <a:pPr lvl="0" indent="0" marL="0">
                  <a:buNone/>
                </a:pPr>
                <a14:m>
                  <m:oMathPara xmlns:m="http://schemas.openxmlformats.org/officeDocument/2006/math">
                    <m:oMathParaPr>
                      <m:jc m:val="center"/>
                    </m:oMathParaPr>
                    <m:oMath>
                      <m:sSub>
                        <m:e>
                          <m:r>
                            <m:t>s</m:t>
                          </m:r>
                        </m:e>
                        <m:sub>
                          <m:r>
                            <m:t>u</m:t>
                          </m:r>
                          <m:r>
                            <m:rPr>
                              <m:sty m:val="p"/>
                            </m:rPr>
                            <m:t>,</m:t>
                          </m:r>
                          <m:r>
                            <m:t>v</m:t>
                          </m:r>
                        </m:sub>
                      </m:sSub>
                      <m:r>
                        <m:rPr>
                          <m:sty m:val="p"/>
                        </m:rPr>
                        <m:t>=</m:t>
                      </m:r>
                      <m:sSubSup>
                        <m:e>
                          <m:r>
                            <m:rPr>
                              <m:sty m:val="bi"/>
                            </m:rPr>
                            <m:t>h</m:t>
                          </m:r>
                        </m:e>
                        <m:sub>
                          <m:r>
                            <m:t>u</m:t>
                          </m:r>
                        </m:sub>
                        <m:sup>
                          <m:r>
                            <m:rPr>
                              <m:sty m:val="p"/>
                            </m:rPr>
                            <m:t>⊤</m:t>
                          </m:r>
                        </m:sup>
                      </m:sSubSup>
                      <m:sSub>
                        <m:e>
                          <m:r>
                            <m:rPr>
                              <m:sty m:val="bi"/>
                            </m:rPr>
                            <m:t>h</m:t>
                          </m:r>
                        </m:e>
                        <m:sub>
                          <m:r>
                            <m:t>v</m:t>
                          </m:r>
                        </m:sub>
                      </m:sSub>
                      <m:r>
                        <m:rPr>
                          <m:sty m:val="p"/>
                        </m:rPr>
                        <m:t>=</m:t>
                      </m:r>
                      <m:nary>
                        <m:naryPr>
                          <m:chr m:val="∑"/>
                          <m:limLoc m:val="undOvr"/>
                          <m:subHide m:val="off"/>
                          <m:supHide m:val="off"/>
                        </m:naryPr>
                        <m:sub>
                          <m:r>
                            <m:t>i</m:t>
                          </m:r>
                          <m:r>
                            <m:rPr>
                              <m:sty m:val="p"/>
                            </m:rPr>
                            <m:t>=</m:t>
                          </m:r>
                          <m:r>
                            <m:t>1</m:t>
                          </m:r>
                        </m:sub>
                        <m:sup>
                          <m:r>
                            <m:t>32</m:t>
                          </m:r>
                        </m:sup>
                        <m:e>
                          <m:sSub>
                            <m:e>
                              <m:r>
                                <m:t>h</m:t>
                              </m:r>
                            </m:e>
                            <m:sub>
                              <m:r>
                                <m:t>u</m:t>
                              </m:r>
                              <m:r>
                                <m:rPr>
                                  <m:sty m:val="p"/>
                                </m:rPr>
                                <m:t>,</m:t>
                              </m:r>
                              <m:r>
                                <m:t>i</m:t>
                              </m:r>
                            </m:sub>
                          </m:sSub>
                        </m:e>
                      </m:nary>
                      <m:r>
                        <m:rPr>
                          <m:sty m:val="p"/>
                        </m:rPr>
                        <m:t>⋅</m:t>
                      </m:r>
                      <m:sSub>
                        <m:e>
                          <m:r>
                            <m:t>h</m:t>
                          </m:r>
                        </m:e>
                        <m:sub>
                          <m:r>
                            <m:t>v</m:t>
                          </m:r>
                          <m:r>
                            <m:rPr>
                              <m:sty m:val="p"/>
                            </m:rPr>
                            <m:t>,</m:t>
                          </m:r>
                          <m:r>
                            <m:t>i</m:t>
                          </m:r>
                        </m:sub>
                      </m:sSub>
                    </m:oMath>
                  </m:oMathPara>
                </a14:m>
              </a:p>
              <a:p>
                <a:pPr lvl="0"/>
                <a:r>
                  <a:rPr b="1"/>
                  <a:t>High score</a:t>
                </a:r>
                <a:r>
                  <a:rPr/>
                  <a:t> → similar neighborhood patterns across time → predicted co-occurrence</a:t>
                </a:r>
              </a:p>
              <a:p>
                <a:pPr lvl="0"/>
                <a:r>
                  <a:rPr b="1"/>
                  <a:t>Low score</a:t>
                </a:r>
                <a:r>
                  <a:rPr/>
                  <a:t> → no structural reason to expect co-occurrence</a:t>
                </a:r>
              </a:p>
              <a:p>
                <a:pPr lvl="0" indent="0" marL="0">
                  <a:buNone/>
                </a:pPr>
                <a:r>
                  <a:rPr b="1"/>
                  <a:t>Why inner product?</a:t>
                </a:r>
                <a:r>
                  <a:rPr/>
                  <a:t> Simplest similarity measure — if embeddings point in the same direction, the dot product is large</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Training Loop</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For each of 3 epochs</a:t>
                </a:r>
                <a:r>
                  <a:rPr/>
                  <a:t>, iterate through </a:t>
                </a:r>
                <a:r>
                  <a:rPr b="1"/>
                  <a:t>1,450 days in chronological order:</a:t>
                </a:r>
              </a:p>
              <a:p>
                <a:pPr lvl="0" indent="-342900" marL="342900">
                  <a:buAutoNum type="arabicPeriod"/>
                </a:pPr>
                <a:r>
                  <a:rPr/>
                  <a:t>Build today’s graph </a:t>
                </a:r>
                <a14:m>
                  <m:oMath xmlns:m="http://schemas.openxmlformats.org/officeDocument/2006/math">
                    <m:sSub>
                      <m:e>
                        <m:r>
                          <m:t>G</m:t>
                        </m:r>
                      </m:e>
                      <m:sub>
                        <m:r>
                          <m:t>t</m:t>
                        </m:r>
                      </m:sub>
                    </m:sSub>
                  </m:oMath>
                </a14:m>
              </a:p>
              <a:p>
                <a:pPr lvl="0" indent="-342900" marL="342900">
                  <a:buAutoNum type="arabicPeriod"/>
                </a:pPr>
                <a:r>
                  <a:rPr/>
                  <a:t>Forward pass: </a:t>
                </a:r>
                <a14:m>
                  <m:oMath xmlns:m="http://schemas.openxmlformats.org/officeDocument/2006/math">
                    <m:sSub>
                      <m:e>
                        <m:r>
                          <m:t>H</m:t>
                        </m:r>
                      </m:e>
                      <m:sub>
                        <m:r>
                          <m:t>t</m:t>
                        </m:r>
                      </m:sub>
                    </m:sSub>
                    <m:r>
                      <m:rPr>
                        <m:sty m:val="p"/>
                      </m:rPr>
                      <m:t>=</m:t>
                    </m:r>
                    <m:r>
                      <m:rPr>
                        <m:nor/>
                        <m:sty m:val="p"/>
                      </m:rPr>
                      <m:t>TGCN</m:t>
                    </m:r>
                    <m:r>
                      <m:rPr>
                        <m:sty m:val="p"/>
                      </m:rPr>
                      <m:t>(</m:t>
                    </m:r>
                    <m:sSub>
                      <m:e>
                        <m:r>
                          <m:t>X</m:t>
                        </m:r>
                      </m:e>
                      <m:sub>
                        <m:r>
                          <m:t>t</m:t>
                        </m:r>
                      </m:sub>
                    </m:sSub>
                    <m:r>
                      <m:rPr>
                        <m:sty m:val="p"/>
                      </m:rPr>
                      <m:t>,</m:t>
                    </m:r>
                    <m:sSub>
                      <m:e>
                        <m:r>
                          <m:t>G</m:t>
                        </m:r>
                      </m:e>
                      <m:sub>
                        <m:r>
                          <m:t>t</m:t>
                        </m:r>
                      </m:sub>
                    </m:sSub>
                    <m:r>
                      <m:rPr>
                        <m:sty m:val="p"/>
                      </m:rPr>
                      <m:t>,</m:t>
                    </m:r>
                    <m:sSub>
                      <m:e>
                        <m:r>
                          <m:t>H</m:t>
                        </m:r>
                      </m:e>
                      <m:sub>
                        <m:r>
                          <m:t>t</m:t>
                        </m:r>
                        <m:r>
                          <m:rPr>
                            <m:sty m:val="p"/>
                          </m:rPr>
                          <m:t>−</m:t>
                        </m:r>
                        <m:r>
                          <m:t>1</m:t>
                        </m:r>
                      </m:sub>
                    </m:sSub>
                    <m:r>
                      <m:rPr>
                        <m:sty m:val="p"/>
                      </m:rPr>
                      <m:t>)</m:t>
                    </m:r>
                  </m:oMath>
                </a14:m>
              </a:p>
              <a:p>
                <a:pPr lvl="0" indent="-342900" marL="342900">
                  <a:buAutoNum type="arabicPeriod"/>
                </a:pPr>
                <a:r>
                  <a:rPr/>
                  <a:t>Score </a:t>
                </a:r>
                <a:r>
                  <a:rPr b="1"/>
                  <a:t>positive pairs</a:t>
                </a:r>
                <a:r>
                  <a:rPr/>
                  <a:t> (actual edges) and </a:t>
                </a:r>
                <a:r>
                  <a:rPr b="1"/>
                  <a:t>negative pairs</a:t>
                </a:r>
                <a:r>
                  <a:rPr/>
                  <a:t> (random non-edges, count-matched)</a:t>
                </a:r>
              </a:p>
              <a:p>
                <a:pPr lvl="0" indent="-342900" marL="342900">
                  <a:buAutoNum type="arabicPeriod"/>
                </a:pPr>
                <a:r>
                  <a:rPr b="1"/>
                  <a:t>Loss:</a:t>
                </a:r>
                <a:r>
                  <a:rPr/>
                  <a:t> BCEWithLogitsLoss — positives should score high, negatives low</a:t>
                </a:r>
              </a:p>
              <a:p>
                <a:pPr lvl="0" indent="-342900" marL="342900">
                  <a:buAutoNum type="arabicPeriod"/>
                </a:pPr>
                <a:r>
                  <a:rPr/>
                  <a:t>Backprop + Adam update (LR = 0.001)</a:t>
                </a:r>
              </a:p>
              <a:p>
                <a:pPr lvl="0" indent="-342900" marL="342900">
                  <a:buAutoNum type="arabicPeriod"/>
                </a:pPr>
                <a:r>
                  <a:rPr b="1"/>
                  <a:t>Detach</a:t>
                </a:r>
                <a:r>
                  <a:rPr/>
                  <a:t> </a:t>
                </a:r>
                <a14:m>
                  <m:oMath xmlns:m="http://schemas.openxmlformats.org/officeDocument/2006/math">
                    <m:sSub>
                      <m:e>
                        <m:r>
                          <m:t>H</m:t>
                        </m:r>
                      </m:e>
                      <m:sub>
                        <m:r>
                          <m:t>t</m:t>
                        </m:r>
                      </m:sub>
                    </m:sSub>
                  </m:oMath>
                </a14:m>
                <a:r>
                  <a:rPr/>
                  <a:t> — truncated BPTT (laptop memory constraint)</a:t>
                </a:r>
              </a:p>
              <a:p>
                <a:pPr lvl="0" indent="0" marL="0">
                  <a:buNone/>
                </a:pPr>
                <a:r>
                  <a:rPr b="1"/>
                  <a:t>No cooperation labels</a:t>
                </a:r>
                <a:r>
                  <a:rPr/>
                  <a:t> — only structural positives vs random negatives</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What the Metrics Mean</a:t>
            </a:r>
          </a:p>
        </p:txBody>
      </p:sp>
      <p:sp>
        <p:nvSpPr>
          <p:cNvPr id="3" name="Content Placeholder 2"/>
          <p:cNvSpPr>
            <a:spLocks noGrp="1"/>
          </p:cNvSpPr>
          <p:nvPr>
            <p:ph idx="1"/>
          </p:nvPr>
        </p:nvSpPr>
        <p:spPr/>
        <p:txBody>
          <a:bodyPr/>
          <a:lstStyle/>
          <a:p>
            <a:pPr lvl="0" indent="0" marL="0">
              <a:buNone/>
            </a:pPr>
            <a:r>
              <a:rPr b="1"/>
              <a:t>Chronological split:</a:t>
            </a:r>
            <a:r>
              <a:rPr/>
              <a:t> train on days 1–1,450 / test on days 1,451–2,326</a:t>
            </a:r>
          </a:p>
          <a:p>
            <a:pPr lvl="0" indent="0" marL="0">
              <a:buNone/>
            </a:pPr>
            <a:r>
              <a:rPr b="1"/>
              <a:t>ROC AUC = 0.73:</a:t>
            </a:r>
            <a:r>
              <a:rPr/>
              <a:t> If you pick a random real edge and a random non-edge, there’s a </a:t>
            </a:r>
            <a:r>
              <a:rPr b="1"/>
              <a:t>73% chance</a:t>
            </a:r>
            <a:r>
              <a:rPr/>
              <a:t> the model ranks the real edge higher</a:t>
            </a:r>
          </a:p>
          <a:p>
            <a:pPr lvl="0" indent="0" marL="0">
              <a:buNone/>
            </a:pPr>
            <a:r>
              <a:rPr b="1"/>
              <a:t>AP = 0.71:</a:t>
            </a:r>
            <a:r>
              <a:rPr/>
              <a:t> The precision-recall curve has area 0.71 — reasonable precision as recall increases</a:t>
            </a:r>
          </a:p>
          <a:p>
            <a:pPr lvl="0" indent="0" marL="0">
              <a:buNone/>
            </a:pPr>
            <a:r>
              <a:rPr b="1"/>
              <a:t>Per-bucket variability:</a:t>
            </a:r>
            <a:r>
              <a:rPr/>
              <a:t> std ±0.10 across 876 test days — some days are easier (dense graphs), others harder (sparse)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Results &amp; Validation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Quantitative Performance (Table 1)</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Setting</a:t>
                      </a:r>
                    </a:p>
                  </a:txBody>
                  <a:tcPr/>
                </a:tc>
                <a:tc>
                  <a:txBody>
                    <a:bodyPr/>
                    <a:lstStyle/>
                    <a:p>
                      <a:pPr lvl="0" indent="0" marL="0">
                        <a:buNone/>
                      </a:pPr>
                      <a:r>
                        <a:rPr/>
                        <a:t>ROC AUC</a:t>
                      </a:r>
                    </a:p>
                  </a:txBody>
                  <a:tcPr/>
                </a:tc>
                <a:tc>
                  <a:txBody>
                    <a:bodyPr/>
                    <a:lstStyle/>
                    <a:p>
                      <a:pPr lvl="0" indent="0" marL="0">
                        <a:buNone/>
                      </a:pPr>
                      <a:r>
                        <a:rPr/>
                        <a:t>AP</a:t>
                      </a:r>
                    </a:p>
                  </a:txBody>
                  <a:tcPr/>
                </a:tc>
              </a:tr>
              <a:tr h="0">
                <a:tc>
                  <a:txBody>
                    <a:bodyPr/>
                    <a:lstStyle/>
                    <a:p>
                      <a:pPr lvl="0" indent="0" marL="0">
                        <a:buNone/>
                      </a:pPr>
                      <a:r>
                        <a:rPr b="1"/>
                        <a:t>Combined + social (primary)</a:t>
                      </a:r>
                    </a:p>
                  </a:txBody>
                </a:tc>
                <a:tc>
                  <a:txBody>
                    <a:bodyPr/>
                    <a:lstStyle/>
                    <a:p>
                      <a:pPr lvl="0" indent="0" marL="0">
                        <a:buNone/>
                      </a:pPr>
                      <a:r>
                        <a:rPr b="1"/>
                        <a:t>0.730</a:t>
                      </a:r>
                    </a:p>
                  </a:txBody>
                </a:tc>
                <a:tc>
                  <a:txBody>
                    <a:bodyPr/>
                    <a:lstStyle/>
                    <a:p>
                      <a:pPr lvl="0" indent="0" marL="0">
                        <a:buNone/>
                      </a:pPr>
                      <a:r>
                        <a:rPr b="1"/>
                        <a:t>0.714</a:t>
                      </a:r>
                    </a:p>
                  </a:txBody>
                </a:tc>
              </a:tr>
              <a:tr h="0">
                <a:tc>
                  <a:txBody>
                    <a:bodyPr/>
                    <a:lstStyle/>
                    <a:p>
                      <a:pPr lvl="0" indent="0" marL="0">
                        <a:buNone/>
                      </a:pPr>
                      <a:r>
                        <a:rPr/>
                        <a:t>Proximity-only (ablation)</a:t>
                      </a:r>
                    </a:p>
                  </a:txBody>
                </a:tc>
                <a:tc>
                  <a:txBody>
                    <a:bodyPr/>
                    <a:lstStyle/>
                    <a:p>
                      <a:pPr lvl="0" indent="0" marL="0">
                        <a:buNone/>
                      </a:pPr>
                      <a:r>
                        <a:rPr/>
                        <a:t>0.776</a:t>
                      </a:r>
                    </a:p>
                  </a:txBody>
                </a:tc>
                <a:tc>
                  <a:txBody>
                    <a:bodyPr/>
                    <a:lstStyle/>
                    <a:p>
                      <a:pPr lvl="0" indent="0" marL="0">
                        <a:buNone/>
                      </a:pPr>
                      <a:r>
                        <a:rPr/>
                        <a:t>0.795</a:t>
                      </a:r>
                    </a:p>
                  </a:txBody>
                </a:tc>
              </a:tr>
              <a:tr h="0">
                <a:tc>
                  <a:txBody>
                    <a:bodyPr/>
                    <a:lstStyle/>
                    <a:p>
                      <a:pPr lvl="0" indent="0" marL="0">
                        <a:buNone/>
                      </a:pPr>
                      <a:r>
                        <a:rPr/>
                        <a:t>Capped graph (sanity check)</a:t>
                      </a:r>
                    </a:p>
                  </a:txBody>
                </a:tc>
                <a:tc>
                  <a:txBody>
                    <a:bodyPr/>
                    <a:lstStyle/>
                    <a:p>
                      <a:pPr lvl="0" indent="0" marL="0">
                        <a:buNone/>
                      </a:pPr>
                      <a:r>
                        <a:rPr/>
                        <a:t>~0.95</a:t>
                      </a:r>
                    </a:p>
                  </a:txBody>
                </a:tc>
                <a:tc>
                  <a:txBody>
                    <a:bodyPr/>
                    <a:lstStyle/>
                    <a:p>
                      <a:pPr lvl="0" indent="0" marL="0">
                        <a:buNone/>
                      </a:pPr>
                      <a:r>
                        <a:rPr/>
                        <a:t>~0.96</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Geographic Validation: 8 of 200 Survive</a:t>
            </a:r>
          </a:p>
        </p:txBody>
      </p:sp>
      <p:pic>
        <p:nvPicPr>
          <p:cNvPr descr="../artifacts/plots/case_study_pairs/pair_412000690_412325200_contour.png" id="0" name="Picture 1"/>
          <p:cNvPicPr>
            <a:picLocks noGrp="1" noChangeAspect="1"/>
          </p:cNvPicPr>
          <p:nvPr/>
        </p:nvPicPr>
        <p:blipFill>
          <a:blip r:embed="rId3"/>
          <a:stretch>
            <a:fillRect/>
          </a:stretch>
        </p:blipFill>
        <p:spPr bwMode="auto">
          <a:xfrm>
            <a:off x="2832100" y="1193800"/>
            <a:ext cx="3479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1 — Flagship pair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Gear-Aware Stratification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Did 192 of 200 Candidates Fail?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Three-step analysis:</a:t>
                </a:r>
              </a:p>
              <a:p>
                <a:pPr lvl="0" indent="0" marL="0">
                  <a:buNone/>
                </a:pPr>
                <a:r>
                  <a:rPr b="1"/>
                  <a:t>Step 1 — Gear enrichment:</a:t>
                </a:r>
                <a:r>
                  <a:rPr/>
                  <a:t> 267 MMSIs → dominant gear type from 96 sampled fleet days (2012–2019)</a:t>
                </a:r>
              </a:p>
              <a:p>
                <a:pPr lvl="0" indent="0" marL="0">
                  <a:buNone/>
                </a:pPr>
                <a:r>
                  <a:rPr b="1"/>
                  <a:t>Step 2 — Co-location baseline:</a:t>
                </a:r>
                <a:r>
                  <a:rPr/>
                  <a:t> 32 fleet days → ~7M cell-days → how often each gear pair shares a cell </a:t>
                </a:r>
                <a:r>
                  <a:rPr b="1"/>
                  <a:t>by default</a:t>
                </a:r>
              </a:p>
              <a:p>
                <a:pPr lvl="0" indent="0" marL="0">
                  <a:buNone/>
                </a:pPr>
                <a:r>
                  <a:rPr b="1"/>
                  <a:t>Step 3 — Gear-adjusted score:</a:t>
                </a:r>
              </a:p>
              <a:p>
                <a:pPr lvl="0" indent="0" marL="0">
                  <a:buNone/>
                </a:pPr>
                <a14:m>
                  <m:oMathPara xmlns:m="http://schemas.openxmlformats.org/officeDocument/2006/math">
                    <m:oMathParaPr>
                      <m:jc m:val="center"/>
                    </m:oMathParaPr>
                    <m:oMath>
                      <m:sSub>
                        <m:e>
                          <m:r>
                            <m:t>S</m:t>
                          </m:r>
                        </m:e>
                        <m:sub>
                          <m:r>
                            <m:rPr>
                              <m:nor/>
                              <m:sty m:val="p"/>
                            </m:rPr>
                            <m:t>adj</m:t>
                          </m:r>
                        </m:sub>
                      </m:sSub>
                      <m:r>
                        <m:rPr>
                          <m:sty m:val="p"/>
                        </m:rPr>
                        <m:t>=</m:t>
                      </m:r>
                      <m:sSub>
                        <m:e>
                          <m:r>
                            <m:t>S</m:t>
                          </m:r>
                        </m:e>
                        <m:sub>
                          <m:r>
                            <m:rPr>
                              <m:nor/>
                              <m:sty m:val="p"/>
                            </m:rPr>
                            <m:t>orig</m:t>
                          </m:r>
                        </m:sub>
                      </m:sSub>
                      <m:r>
                        <m:rPr>
                          <m:sty m:val="p"/>
                        </m:rPr>
                        <m:t>×</m:t>
                      </m:r>
                      <m:f>
                        <m:fPr>
                          <m:type m:val="bar"/>
                        </m:fPr>
                        <m:num>
                          <m:r>
                            <m:t>1</m:t>
                          </m:r>
                        </m:num>
                        <m:den>
                          <m:r>
                            <m:t>1</m:t>
                          </m:r>
                          <m:r>
                            <m:rPr>
                              <m:sty m:val="p"/>
                            </m:rPr>
                            <m:t>+</m:t>
                          </m:r>
                          <m:r>
                            <m:t>2</m:t>
                          </m:r>
                          <m:r>
                            <m:rPr>
                              <m:sty m:val="p"/>
                            </m:rPr>
                            <m:t>⋅</m:t>
                          </m:r>
                          <m:acc>
                            <m:accPr>
                              <m:chr m:val="̂"/>
                            </m:accPr>
                            <m:e>
                              <m:r>
                                <m:t>B</m:t>
                              </m:r>
                            </m:e>
                          </m:acc>
                        </m:den>
                      </m:f>
                    </m:oMath>
                  </m:oMathPara>
                </a14:m>
              </a:p>
              <a:p>
                <a:pPr lvl="0" indent="0" marL="0">
                  <a:buNone/>
                </a:pPr>
                <a:r>
                  <a:rPr/>
                  <a:t>High fleet co-location → larger discount; cross-gear pairs → less affected</a:t>
                </a:r>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10× Story</a:t>
            </a:r>
          </a:p>
        </p:txBody>
      </p:sp>
      <p:sp>
        <p:nvSpPr>
          <p:cNvPr id="3" name="Content Placeholder 2"/>
          <p:cNvSpPr>
            <a:spLocks noGrp="1"/>
          </p:cNvSpPr>
          <p:nvPr>
            <p:ph idx="1"/>
          </p:nvPr>
        </p:nvSpPr>
        <p:spPr/>
        <p:txBody>
          <a:bodyPr/>
          <a:lstStyle/>
          <a:p>
            <a:pPr lvl="0" indent="0" marL="0">
              <a:buNone/>
            </a:pPr>
            <a:r>
              <a:rPr b="1"/>
              <a:t>75% of top 200</a:t>
            </a:r>
            <a:r>
              <a:rPr/>
              <a:t> are trawler-dominated — they fish the same waters by default</a:t>
            </a:r>
          </a:p>
          <a:p>
            <a:pPr lvl="0" indent="0" marL="0">
              <a:buNone/>
            </a:pPr>
            <a:r>
              <a:rPr b="1"/>
              <a:t>Pass rates tell the real story:</a:t>
            </a:r>
          </a:p>
          <a:p>
            <a:pPr lvl="0"/>
            <a:r>
              <a:rPr b="1"/>
              <a:t>Fixed gear + Trawlers:</a:t>
            </a:r>
            <a:r>
              <a:rPr/>
              <a:t> 25% (1 of 4 pairs pass)</a:t>
            </a:r>
          </a:p>
          <a:p>
            <a:pPr lvl="0"/>
            <a:r>
              <a:rPr b="1"/>
              <a:t>Set gillnets + Trawlers:</a:t>
            </a:r>
            <a:r>
              <a:rPr/>
              <a:t> 8.3% (1 of 12)</a:t>
            </a:r>
          </a:p>
          <a:p>
            <a:pPr lvl="0"/>
            <a:r>
              <a:rPr b="1"/>
              <a:t>Line / generic + Trawlers:</a:t>
            </a:r>
            <a:r>
              <a:rPr/>
              <a:t> 6.0% (4 of 67)</a:t>
            </a:r>
          </a:p>
          <a:p>
            <a:pPr lvl="0"/>
            <a:r>
              <a:rPr b="1"/>
              <a:t>Trawlers + Trawlers:</a:t>
            </a:r>
            <a:r>
              <a:rPr/>
              <a:t> 2.4% (2 of 82)</a:t>
            </a:r>
          </a:p>
          <a:p>
            <a:pPr lvl="0" indent="0" marL="0">
              <a:buNone/>
            </a:pPr>
            <a:r>
              <a:rPr b="1"/>
              <a:t>10× difference</a:t>
            </a:r>
            <a:r>
              <a:rPr/>
              <a:t> between cross-gear and same-gear pass rates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2: Pass Rates + The 8 Validated Pairs</a:t>
            </a:r>
          </a:p>
        </p:txBody>
      </p:sp>
      <p:pic>
        <p:nvPicPr>
          <p:cNvPr descr="../artifacts/plots/gear_aware_reranking.png" id="0" name="Picture 1"/>
          <p:cNvPicPr>
            <a:picLocks noGrp="1" noChangeAspect="1"/>
          </p:cNvPicPr>
          <p:nvPr/>
        </p:nvPicPr>
        <p:blipFill>
          <a:blip r:embed="rId3"/>
          <a:stretch>
            <a:fillRect/>
          </a:stretch>
        </p:blipFill>
        <p:spPr bwMode="auto">
          <a:xfrm>
            <a:off x="2451100" y="1193800"/>
            <a:ext cx="4229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Means</a:t>
            </a:r>
          </a:p>
        </p:txBody>
      </p:sp>
      <p:sp>
        <p:nvSpPr>
          <p:cNvPr id="3" name="Content Placeholder 2"/>
          <p:cNvSpPr>
            <a:spLocks noGrp="1"/>
          </p:cNvSpPr>
          <p:nvPr>
            <p:ph idx="1"/>
          </p:nvPr>
        </p:nvSpPr>
        <p:spPr/>
        <p:txBody>
          <a:bodyPr/>
          <a:lstStyle/>
          <a:p>
            <a:pPr lvl="0" indent="0" marL="0">
              <a:buNone/>
            </a:pPr>
            <a:r>
              <a:rPr b="1"/>
              <a:t>Two takeaways:</a:t>
            </a:r>
          </a:p>
          <a:p>
            <a:pPr lvl="0" indent="-342900" marL="342900">
              <a:buAutoNum type="arabicPeriod"/>
            </a:pPr>
            <a:r>
              <a:rPr b="1"/>
              <a:t>The geographic filter is justified</a:t>
            </a:r>
            <a:r>
              <a:rPr/>
              <a:t> — 192 excluded pairs reflect </a:t>
            </a:r>
            <a:r>
              <a:rPr b="1"/>
              <a:t>normal fleet behavior</a:t>
            </a:r>
            <a:r>
              <a:rPr/>
              <a:t>, not model failure</a:t>
            </a:r>
          </a:p>
          <a:p>
            <a:pPr lvl="0" indent="-342900" marL="342900">
              <a:buAutoNum type="arabicPeriod"/>
            </a:pPr>
            <a:r>
              <a:rPr b="1"/>
              <a:t>The 8 validated pairs are strengthened</a:t>
            </a:r>
            <a:r>
              <a:rPr/>
              <a:t> — cross-gear pairs survive at disproportionate rates → enriched for </a:t>
            </a:r>
            <a:r>
              <a:rPr b="1"/>
              <a:t>behaviorally unusual</a:t>
            </a:r>
            <a:r>
              <a:rPr/>
              <a:t> encounters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Case Studies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Monthly Overlap (Figure 3)</a:t>
            </a:r>
          </a:p>
        </p:txBody>
      </p:sp>
      <p:pic>
        <p:nvPicPr>
          <p:cNvPr descr="../artifacts/plots/pair_overlap_series/all_pairs_days_within_25km.png" id="0" name="Picture 1"/>
          <p:cNvPicPr>
            <a:picLocks noGrp="1" noChangeAspect="1"/>
          </p:cNvPicPr>
          <p:nvPr/>
        </p:nvPicPr>
        <p:blipFill>
          <a:blip r:embed="rId3"/>
          <a:stretch>
            <a:fillRect/>
          </a:stretch>
        </p:blipFill>
        <p:spPr bwMode="auto">
          <a:xfrm>
            <a:off x="1917700" y="1193800"/>
            <a:ext cx="5308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3</a:t>
            </a:r>
          </a:p>
        </p:txBody>
      </p:sp>
      <p:sp>
        <p:nvSpPr>
          <p:cNvPr id="3" name="Content Placeholder 2"/>
          <p:cNvSpPr>
            <a:spLocks noGrp="1"/>
          </p:cNvSpPr>
          <p:nvPr>
            <p:ph idx="1"/>
          </p:nvPr>
        </p:nvSpPr>
        <p:spPr/>
        <p:txBody>
          <a:bodyPr/>
          <a:lstStyle/>
          <a:p>
            <a:pPr lvl="0"/>
            <a:r>
              <a:rPr b="1"/>
              <a:t>Pair 1:</a:t>
            </a:r>
            <a:r>
              <a:rPr/>
              <a:t> 84 days across 9 months — </a:t>
            </a:r>
            <a:r>
              <a:rPr b="1"/>
              <a:t>persistent</a:t>
            </a:r>
            <a:r>
              <a:rPr/>
              <a:t> co-presence (2015–2016)</a:t>
            </a:r>
          </a:p>
          <a:p>
            <a:pPr lvl="0"/>
            <a:r>
              <a:rPr/>
              <a:t>Most others: </a:t>
            </a:r>
            <a:r>
              <a:rPr b="1"/>
              <a:t>sporadic</a:t>
            </a:r>
            <a:r>
              <a:rPr/>
              <a:t> — occasional, not sustained</a:t>
            </a:r>
          </a:p>
          <a:p>
            <a:pPr lvl="0"/>
            <a:r>
              <a:rPr b="1"/>
              <a:t>Pair 7:</a:t>
            </a:r>
            <a:r>
              <a:rPr/>
              <a:t> only cross-flag pair (CHN ↔ MID111)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Six-Vessel Cluster (Figure 4)</a:t>
            </a:r>
          </a:p>
        </p:txBody>
      </p:sp>
      <p:pic>
        <p:nvPicPr>
          <p:cNvPr descr="../artifacts/plots/six_vessel_cluster_scatter.png" id="0" name="Picture 1"/>
          <p:cNvPicPr>
            <a:picLocks noGrp="1" noChangeAspect="1"/>
          </p:cNvPicPr>
          <p:nvPr/>
        </p:nvPicPr>
        <p:blipFill>
          <a:blip r:embed="rId3"/>
          <a:stretch>
            <a:fillRect/>
          </a:stretch>
        </p:blipFill>
        <p:spPr bwMode="auto">
          <a:xfrm>
            <a:off x="3378200" y="1193800"/>
            <a:ext cx="2387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4</a:t>
            </a:r>
          </a:p>
        </p:txBody>
      </p:sp>
      <p:sp>
        <p:nvSpPr>
          <p:cNvPr id="3" name="Content Placeholder 2"/>
          <p:cNvSpPr>
            <a:spLocks noGrp="1"/>
          </p:cNvSpPr>
          <p:nvPr>
            <p:ph idx="1"/>
          </p:nvPr>
        </p:nvSpPr>
        <p:spPr/>
        <p:txBody>
          <a:bodyPr/>
          <a:lstStyle/>
          <a:p>
            <a:pPr lvl="0"/>
            <a:r>
              <a:rPr/>
              <a:t>Six vessels from </a:t>
            </a:r>
            <a:r>
              <a:rPr b="1"/>
              <a:t>multiple distinct pairs</a:t>
            </a:r>
            <a:r>
              <a:rPr/>
              <a:t> converge on the </a:t>
            </a:r>
            <a:r>
              <a:rPr b="1"/>
              <a:t>same area</a:t>
            </a:r>
            <a:r>
              <a:rPr/>
              <a:t> east of Ningbo</a:t>
            </a:r>
          </a:p>
          <a:p>
            <a:pPr lvl="0"/>
            <a:r>
              <a:rPr/>
              <a:t>Concentrated between 29°N–30.5°N, ~122°E</a:t>
            </a:r>
          </a:p>
          <a:p>
            <a:pPr lvl="0"/>
            <a:r>
              <a:rPr/>
              <a:t>Consistent with a </a:t>
            </a:r>
            <a:r>
              <a:rPr b="1"/>
              <a:t>shared operating region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Limitations &amp; Conclusion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a:t>
            </a:r>
          </a:p>
        </p:txBody>
      </p:sp>
      <p:sp>
        <p:nvSpPr>
          <p:cNvPr id="3" name="Content Placeholder 2"/>
          <p:cNvSpPr>
            <a:spLocks noGrp="1"/>
          </p:cNvSpPr>
          <p:nvPr>
            <p:ph idx="1"/>
          </p:nvPr>
        </p:nvSpPr>
        <p:spPr/>
        <p:txBody>
          <a:bodyPr/>
          <a:lstStyle/>
          <a:p>
            <a:pPr lvl="0"/>
            <a:r>
              <a:rPr b="1"/>
              <a:t>Link prediction ≠ verdict</a:t>
            </a:r>
            <a:r>
              <a:rPr/>
              <a:t> — high scores can reflect shared fishing grounds, ports, traffic lanes</a:t>
            </a:r>
          </a:p>
          <a:p>
            <a:pPr lvl="0"/>
            <a:r>
              <a:rPr b="1"/>
              <a:t>AIS gaps</a:t>
            </a:r>
            <a:r>
              <a:rPr/>
              <a:t> — vessels may disable AIS or have sparse coverage</a:t>
            </a:r>
          </a:p>
          <a:p>
            <a:pPr lvl="0"/>
            <a:r>
              <a:rPr b="1"/>
              <a:t>Confounding by density</a:t>
            </a:r>
            <a:r>
              <a:rPr/>
              <a:t> — crowded regions produce many possible edges</a:t>
            </a:r>
          </a:p>
          <a:p>
            <a:pPr lvl="0"/>
            <a:r>
              <a:rPr b="1"/>
              <a:t>Single-seed headline</a:t>
            </a:r>
            <a:r>
              <a:rPr/>
              <a:t> — per-bucket std ±0.10; multi-seed runs are future work</a:t>
            </a:r>
          </a:p>
          <a:p>
            <a:pPr lvl="0"/>
            <a:r>
              <a:rPr b="1"/>
              <a:t>Gear labels are coarse</a:t>
            </a:r>
            <a:r>
              <a:rPr/>
              <a:t> — fleet-level categories, not formal licenses</a:t>
            </a:r>
          </a:p>
          <a:p>
            <a:pPr lvl="0"/>
            <a:r>
              <a:rPr b="1"/>
              <a:t>Gear-adjusted score is a heuristic</a:t>
            </a:r>
            <a:r>
              <a:rPr/>
              <a:t> — different discount functions would shift exact ranks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buNone/>
            </a:pPr>
            <a:r>
              <a:rPr b="1"/>
              <a:t>What we built:</a:t>
            </a:r>
          </a:p>
          <a:p>
            <a:pPr lvl="0"/>
            <a:r>
              <a:rPr/>
              <a:t>Unsupervised AIS → graph → TGCN pipeline with time-split evaluation</a:t>
            </a:r>
          </a:p>
          <a:p>
            <a:pPr lvl="0"/>
            <a:r>
              <a:rPr b="1"/>
              <a:t>0.73 ROC AUC</a:t>
            </a:r>
            <a:r>
              <a:rPr/>
              <a:t>, </a:t>
            </a:r>
            <a:r>
              <a:rPr b="1"/>
              <a:t>0.71 AP</a:t>
            </a:r>
            <a:r>
              <a:rPr/>
              <a:t> on 876 test days</a:t>
            </a:r>
          </a:p>
          <a:p>
            <a:pPr lvl="0"/>
            <a:r>
              <a:rPr b="1"/>
              <a:t>8 pairs</a:t>
            </a:r>
            <a:r>
              <a:rPr/>
              <a:t> survive strict 25 km post-hoc screening</a:t>
            </a:r>
          </a:p>
          <a:p>
            <a:pPr lvl="0"/>
            <a:r>
              <a:rPr/>
              <a:t>Gear-aware stratification: 75% of candidates are fleet noise; validated cross-gear pairs are </a:t>
            </a:r>
            <a:r>
              <a:rPr b="1"/>
              <a:t>10× more likely</a:t>
            </a:r>
            <a:r>
              <a:rPr/>
              <a:t> to survive</a:t>
            </a:r>
          </a:p>
          <a:p>
            <a:pPr lvl="0" indent="0" marL="0">
              <a:buNone/>
            </a:pPr>
            <a:r>
              <a:rPr b="1"/>
              <a:t>The output:</a:t>
            </a:r>
            <a:r>
              <a:rPr/>
              <a:t> a ranked candidate list + reproducible checks — not a determination of wrongdoing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Future Work</a:t>
            </a:r>
          </a:p>
        </p:txBody>
      </p:sp>
      <p:sp>
        <p:nvSpPr>
          <p:cNvPr id="3" name="Content Placeholder 2"/>
          <p:cNvSpPr>
            <a:spLocks noGrp="1"/>
          </p:cNvSpPr>
          <p:nvPr>
            <p:ph idx="1"/>
          </p:nvPr>
        </p:nvSpPr>
        <p:spPr/>
        <p:txBody>
          <a:bodyPr/>
          <a:lstStyle/>
          <a:p>
            <a:pPr lvl="0"/>
            <a:r>
              <a:rPr b="1"/>
              <a:t>Multi-seed runs</a:t>
            </a:r>
            <a:r>
              <a:rPr/>
              <a:t> on high-memory hardware</a:t>
            </a:r>
          </a:p>
          <a:p>
            <a:pPr lvl="0"/>
            <a:r>
              <a:rPr b="1"/>
              <a:t>Heterogeneous-edge architectures</a:t>
            </a:r>
            <a:r>
              <a:rPr/>
              <a:t> for social edges (weight proximity ≠ registry)</a:t>
            </a:r>
          </a:p>
          <a:p>
            <a:pPr lvl="0"/>
            <a:r>
              <a:rPr/>
              <a:t>Finer </a:t>
            </a:r>
            <a:r>
              <a:rPr b="1"/>
              <a:t>spatial/temporal</a:t>
            </a:r>
            <a:r>
              <a:rPr/>
              <a:t> resolution</a:t>
            </a:r>
          </a:p>
          <a:p>
            <a:pPr lvl="0"/>
            <a:r>
              <a:rPr b="1"/>
              <a:t>Owner or fleet metadata</a:t>
            </a:r>
            <a:r>
              <a:rPr/>
              <a:t> from registries</a:t>
            </a:r>
          </a:p>
          <a:p>
            <a:pPr lvl="0"/>
            <a:r>
              <a:rPr b="1"/>
              <a:t>Movement-based gear classifiers</a:t>
            </a:r>
            <a:r>
              <a:rPr/>
              <a:t> integrated into the pipeline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 — Questions?</a:t>
            </a:r>
          </a:p>
        </p:txBody>
      </p:sp>
      <p:sp>
        <p:nvSpPr>
          <p:cNvPr id="3" name="Content Placeholder 2"/>
          <p:cNvSpPr>
            <a:spLocks noGrp="1"/>
          </p:cNvSpPr>
          <p:nvPr>
            <p:ph idx="1"/>
          </p:nvPr>
        </p:nvSpPr>
        <p:spPr/>
        <p:txBody>
          <a:bodyPr/>
          <a:lstStyle/>
          <a:p>
            <a:pPr lvl="0" indent="0" marL="0">
              <a:buNone/>
            </a:pPr>
            <a:r>
              <a:rPr b="1"/>
              <a:t>Key takeaway:</a:t>
            </a:r>
            <a:r>
              <a:rPr/>
              <a:t> The TGCN surfaces candidates from graph structure and time. Geographic validation and gear-aware stratification separate fleet noise from real signal, yielding 8 behaviorally distinctive pairs for review.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Graph-Based Screening for Potentially Cooperative Vessel Pairs</dc:title>
  <dc:creator/>
  <cp:keywords/>
  <dcterms:created xsi:type="dcterms:W3CDTF">2026-04-05T17:32:39Z</dcterms:created>
  <dcterms:modified xsi:type="dcterms:W3CDTF">2026-04-05T17:32:39Z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y fmtid="{D5CDD505-2E9C-101B-9397-08002B2CF9AE}" pid="3" name="subtitle">
    <vt:lpwstr>A temporal link prediction approach using AIS (2012–2019)</vt:lpwstr>
  </property>
</Properties>
</file>